
<file path=[Content_Types].xml><?xml version="1.0" encoding="utf-8"?>
<Types xmlns="http://schemas.openxmlformats.org/package/2006/content-types">
  <Default Extension="xml" ContentType="application/xml"/>
  <Default Extension="xlsx" ContentType="application/vnd.openxmlformats-officedocument.spreadsheetml.sheet"/>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11.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presProps.xml" ContentType="application/vnd.openxmlformats-officedocument.presentationml.presProps+xml"/>
  <Override PartName="/ppt/notesSlides/notesSlide2.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12.xml" ContentType="application/vnd.openxmlformats-officedocument.presentationml.notesSlide+xml"/>
  <Override PartName="/ppt/slides/slide12.xml" ContentType="application/vnd.openxmlformats-officedocument.presentationml.slide+xml"/>
  <Override PartName="/ppt/charts/chart1.xml" ContentType="application/vnd.openxmlformats-officedocument.drawingml.chart+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1695" cy="6858000"/>
  <p:notesSz cx="6858000" cy="12191695"/>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start</c:v>
                </c:pt>
              </c:strCache>
            </c:strRef>
          </c:tx>
          <c:spPr bwMode="auto">
            <a:prstGeom prst="rect">
              <a:avLst/>
            </a:prstGeom>
            <a:solidFill>
              <a:srgbClr val="FFFFFF"/>
            </a:solidFill>
            <a:ln w="9525" cap="flat">
              <a:solidFill>
                <a:srgbClr val="FFFFFF"/>
              </a:solidFill>
              <a:prstDash val="solid"/>
              <a:round/>
            </a:ln>
            <a:effectLst/>
          </c:spPr>
          <c:invertIfNegative val="0"/>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Sheet1!$A$2:$A$10</c:f>
              <c:multiLvlStrCache>
                <c:ptCount val="9"/>
                <c:lvl>
                  <c:pt idx="0">
                    <c:v>Documentation &amp; Presentation</c:v>
                  </c:pt>
                  <c:pt idx="1">
                    <c:v>Testing &amp; Debugging</c:v>
                  </c:pt>
                  <c:pt idx="2">
                    <c:v>Monitoring / Marketplace / Notifications</c:v>
                  </c:pt>
                  <c:pt idx="3">
                    <c:v>Gemini AI Integration</c:v>
                  </c:pt>
                  <c:pt idx="4">
                    <c:v>Open-Meteo Integration</c:v>
                  </c:pt>
                  <c:pt idx="5">
                    <c:v>Farmer-Side Development</c:v>
                  </c:pt>
                  <c:pt idx="6">
                    <c:v>UI / UX Design</c:v>
                  </c:pt>
                  <c:pt idx="7">
                    <c:v>SRS / Planning</c:v>
                  </c:pt>
                  <c:pt idx="8">
                    <c:v>Requirements &amp; Research</c:v>
                  </c:pt>
                </c:lvl>
              </c:multiLvlStrCache>
            </c:multiLvlStrRef>
          </c:cat>
          <c:val>
            <c:numRef>
              <c:f>Sheet1!$B$2:$B$10</c:f>
              <c:numCache>
                <c:formatCode>General</c:formatCode>
                <c:ptCount val="9"/>
                <c:pt idx="0">
                  <c:v>12</c:v>
                </c:pt>
                <c:pt idx="1">
                  <c:v>10</c:v>
                </c:pt>
                <c:pt idx="2">
                  <c:v>8</c:v>
                </c:pt>
                <c:pt idx="3">
                  <c:v>7</c:v>
                </c:pt>
                <c:pt idx="4">
                  <c:v>6</c:v>
                </c:pt>
                <c:pt idx="5">
                  <c:v>3</c:v>
                </c:pt>
                <c:pt idx="6">
                  <c:v>2</c:v>
                </c:pt>
                <c:pt idx="7">
                  <c:v>1</c:v>
                </c:pt>
                <c:pt idx="8">
                  <c:v>0</c:v>
                </c:pt>
              </c:numCache>
            </c:numRef>
          </c:val>
        </c:ser>
        <c:ser>
          <c:idx val="1"/>
          <c:order val="1"/>
          <c:tx>
            <c:strRef>
              <c:f>Sheet1!$C$1</c:f>
              <c:strCache>
                <c:ptCount val="1"/>
                <c:pt idx="0">
                  <c:v>duration</c:v>
                </c:pt>
              </c:strCache>
            </c:strRef>
          </c:tx>
          <c:spPr bwMode="auto">
            <a:prstGeom prst="rect">
              <a:avLst/>
            </a:prstGeom>
            <a:solidFill>
              <a:srgbClr val="1F4D3A"/>
            </a:solidFill>
            <a:ln w="9525" cap="flat">
              <a:solidFill>
                <a:srgbClr val="FFFFFF"/>
              </a:solidFill>
              <a:prstDash val="solid"/>
              <a:round/>
            </a:ln>
            <a:effectLst/>
          </c:spPr>
          <c:invertIfNegative val="0"/>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Sheet1!$A$2:$A$10</c:f>
              <c:multiLvlStrCache>
                <c:ptCount val="9"/>
                <c:lvl>
                  <c:pt idx="0">
                    <c:v>Documentation &amp; Presentation</c:v>
                  </c:pt>
                  <c:pt idx="1">
                    <c:v>Testing &amp; Debugging</c:v>
                  </c:pt>
                  <c:pt idx="2">
                    <c:v>Monitoring / Marketplace / Notifications</c:v>
                  </c:pt>
                  <c:pt idx="3">
                    <c:v>Gemini AI Integration</c:v>
                  </c:pt>
                  <c:pt idx="4">
                    <c:v>Open-Meteo Integration</c:v>
                  </c:pt>
                  <c:pt idx="5">
                    <c:v>Farmer-Side Development</c:v>
                  </c:pt>
                  <c:pt idx="6">
                    <c:v>UI / UX Design</c:v>
                  </c:pt>
                  <c:pt idx="7">
                    <c:v>SRS / Planning</c:v>
                  </c:pt>
                  <c:pt idx="8">
                    <c:v>Requirements &amp; Research</c:v>
                  </c:pt>
                </c:lvl>
              </c:multiLvlStrCache>
            </c:multiLvlStrRef>
          </c:cat>
          <c:val>
            <c:numRef>
              <c:f>Sheet1!$C$2:$C$10</c:f>
              <c:numCache>
                <c:formatCode>General</c:formatCode>
                <c:ptCount val="9"/>
                <c:pt idx="0">
                  <c:v>4</c:v>
                </c:pt>
                <c:pt idx="1">
                  <c:v>4</c:v>
                </c:pt>
                <c:pt idx="2">
                  <c:v>4</c:v>
                </c:pt>
                <c:pt idx="3">
                  <c:v>4</c:v>
                </c:pt>
                <c:pt idx="4">
                  <c:v>3</c:v>
                </c:pt>
                <c:pt idx="5">
                  <c:v>7</c:v>
                </c:pt>
                <c:pt idx="6">
                  <c:v>3</c:v>
                </c:pt>
                <c:pt idx="7">
                  <c:v>2</c:v>
                </c:pt>
                <c:pt idx="8">
                  <c:v>2</c:v>
                </c:pt>
              </c:numCache>
            </c:numRef>
          </c:val>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gapWidth val="35"/>
        <c:overlap val="100"/>
        <c:axId val="2094734554"/>
        <c:axId val="2094734552"/>
      </c:barChart>
      <c:catAx>
        <c:axId val="2094734554"/>
        <c:scaling>
          <c:orientation val="minMax"/>
        </c:scaling>
        <c:delete val="0"/>
        <c:axPos val="l"/>
        <c:numFmt formatCode="General" sourceLinked="1"/>
        <c:majorTickMark val="out"/>
        <c:minorTickMark val="none"/>
        <c:tickLblPos val="nextTo"/>
        <c:spPr bwMode="auto">
          <a:prstGeom prst="rect">
            <a:avLst/>
          </a:prstGeom>
          <a:ln w="12700" cap="flat">
            <a:noFill/>
            <a:prstDash val="solid"/>
            <a:round/>
          </a:ln>
        </c:spPr>
        <c:txPr>
          <a:bodyPr/>
          <a:lstStyle/>
          <a:p>
            <a:pPr>
              <a:defRPr sz="1150" b="0" i="0" u="none" strike="noStrike">
                <a:solidFill>
                  <a:srgbClr val="222B26"/>
                </a:solidFill>
                <a:latin typeface="Calibri"/>
              </a:defRPr>
            </a:pPr>
            <a:endParaRPr lang="en-US"/>
          </a:p>
        </c:txPr>
        <c:crossAx val="2094734552"/>
        <c:crosses val="autoZero"/>
        <c:auto val="1"/>
        <c:lblAlgn val="ctr"/>
        <c:noMultiLvlLbl val="1"/>
      </c:catAx>
      <c:valAx>
        <c:axId val="2094734552"/>
        <c:scaling>
          <c:orientation val="minMax"/>
          <c:max val="16.000000"/>
          <c:min val="0.000000"/>
        </c:scaling>
        <c:delete val="0"/>
        <c:axPos val="b"/>
        <c:majorGridlines>
          <c:spPr bwMode="auto">
            <a:prstGeom prst="rect">
              <a:avLst/>
            </a:prstGeom>
            <a:ln w="9525" cap="flat">
              <a:solidFill>
                <a:srgbClr val="DCE3D8"/>
              </a:solidFill>
              <a:prstDash val="solid"/>
              <a:round/>
            </a:ln>
          </c:spPr>
        </c:majorGridlines>
        <c:title>
          <c:tx>
            <c:rich>
              <a:bodyPr/>
              <a:lstStyle/>
              <a:p>
                <a:pPr>
                  <a:defRPr sz="1100" b="0" i="0" u="none" strike="noStrike">
                    <a:solidFill>
                      <a:srgbClr val="5C6B62"/>
                    </a:solidFill>
                    <a:latin typeface="Arial"/>
                  </a:defRPr>
                </a:pPr>
                <a:r>
                  <a:rPr sz="1100" b="0" i="0" u="none" strike="noStrike">
                    <a:solidFill>
                      <a:srgbClr val="5C6B62"/>
                    </a:solidFill>
                    <a:latin typeface="Arial"/>
                  </a:rPr>
                  <a:t>Project Week</a:t>
                </a:r>
                <a:endParaRPr/>
              </a:p>
            </c:rich>
          </c:tx>
          <c:layout/>
          <c:overlay val="0"/>
        </c:title>
        <c:numFmt formatCode="General" sourceLinked="0"/>
        <c:majorTickMark val="out"/>
        <c:minorTickMark val="none"/>
        <c:tickLblPos val="low"/>
        <c:spPr bwMode="auto">
          <a:prstGeom prst="rect">
            <a:avLst/>
          </a:prstGeom>
          <a:ln w="12700" cap="flat">
            <a:solidFill>
              <a:srgbClr val="888888"/>
            </a:solidFill>
            <a:prstDash val="solid"/>
            <a:round/>
          </a:ln>
        </c:spPr>
        <c:txPr>
          <a:bodyPr/>
          <a:lstStyle/>
          <a:p>
            <a:pPr>
              <a:defRPr sz="1000" b="0" i="0" u="none" strike="noStrike">
                <a:solidFill>
                  <a:srgbClr val="5C6B62"/>
                </a:solidFill>
                <a:latin typeface="Arial"/>
              </a:defRPr>
            </a:pPr>
            <a:endParaRPr lang="en-US"/>
          </a:p>
        </c:txPr>
        <c:crossAx val="2094734554"/>
        <c:crosses val="autoZero"/>
        <c:crossBetween val="between"/>
        <c:majorUnit val="2.000000"/>
      </c:valAx>
      <c:spPr bwMode="auto">
        <a:prstGeom prst="rect">
          <a:avLst/>
        </a:prstGeom>
        <a:solidFill>
          <a:srgbClr val="FFFFFF"/>
        </a:solidFill>
        <a:ln>
          <a:noFill/>
        </a:ln>
        <a:effectLst/>
      </c:spPr>
    </c:plotArea>
    <c:plotVisOnly val="1"/>
    <c:dispBlanksAs val="span"/>
    <c:showDLblsOverMax val="0"/>
  </c:chart>
  <c:spPr bwMode="auto">
    <a:xfrm rot="0">
      <a:off x="457200" y="1325880"/>
      <a:ext cx="11292840" cy="4617720"/>
    </a:xfrm>
    <a:prstGeom prst="rect">
      <a:avLst/>
    </a:prstGeom>
    <a:no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2274416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63896027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692841897"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42664434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254313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2793292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4918208" name="Slide Image Placeholder 1"/>
          <p:cNvSpPr>
            <a:spLocks noChangeAspect="1" noGrp="1" noRot="1"/>
          </p:cNvSpPr>
          <p:nvPr>
            <p:ph type="sldImg"/>
          </p:nvPr>
        </p:nvSpPr>
        <p:spPr bwMode="auto"/>
      </p:sp>
      <p:sp>
        <p:nvSpPr>
          <p:cNvPr id="568861238" name="Notes Placeholder 2"/>
          <p:cNvSpPr>
            <a:spLocks noGrp="1"/>
          </p:cNvSpPr>
          <p:nvPr>
            <p:ph type="body" idx="1"/>
          </p:nvPr>
        </p:nvSpPr>
        <p:spPr bwMode="auto"/>
        <p:txBody>
          <a:bodyPr/>
          <a:lstStyle/>
          <a:p>
            <a:pPr>
              <a:defRPr/>
            </a:pPr>
            <a:r>
              <a:rPr lang="en-US"/>
              <a:t>Good [morning/afternoon]. We're presenting KrishiBazar, an AI-powered smart agriculture platform, as our final project showcase for Software Development and Project Management. Our team is Muhammad Faujul Kabir, Md. Rakib Hasan, Md. Mahmud Hossain, and Rohan. Over the next slides we'll walk through what we originally planned, what we actually built, how we tested it, and what we learned.</a:t>
            </a:r>
            <a:endParaRPr lang="en-US"/>
          </a:p>
        </p:txBody>
      </p:sp>
      <p:sp>
        <p:nvSpPr>
          <p:cNvPr id="167190403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930049" name="Slide Image Placeholder 1"/>
          <p:cNvSpPr>
            <a:spLocks noChangeAspect="1" noGrp="1" noRot="1"/>
          </p:cNvSpPr>
          <p:nvPr>
            <p:ph type="sldImg"/>
          </p:nvPr>
        </p:nvSpPr>
        <p:spPr bwMode="auto"/>
      </p:sp>
      <p:sp>
        <p:nvSpPr>
          <p:cNvPr id="1319359664" name="Notes Placeholder 2"/>
          <p:cNvSpPr>
            <a:spLocks noGrp="1"/>
          </p:cNvSpPr>
          <p:nvPr>
            <p:ph type="body" idx="1"/>
          </p:nvPr>
        </p:nvSpPr>
        <p:spPr bwMode="auto"/>
        <p:txBody>
          <a:bodyPr/>
          <a:lstStyle/>
          <a:p>
            <a:pPr>
              <a:defRPr/>
            </a:pPr>
            <a:r>
              <a:rPr lang="en-US"/>
              <a:t>KrishiBazar is a bilingual smart-agriculture app for Bangladeshi farmers. Instead of juggling separate apps for weather, prices, disease diagnosis and selling, a farmer gets one app that walks them from planning through monitoring, diagnosis, farm management and finally selling their produce. It's important to be upfront here: this flow describes the Farmer experience, which is the part we fully built. The original idea was broader — we'll explain that on the next slide.</a:t>
            </a:r>
            <a:endParaRPr lang="en-US"/>
          </a:p>
        </p:txBody>
      </p:sp>
      <p:sp>
        <p:nvSpPr>
          <p:cNvPr id="172926165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0895851" name="Slide Image Placeholder 1"/>
          <p:cNvSpPr>
            <a:spLocks noChangeAspect="1" noGrp="1" noRot="1"/>
          </p:cNvSpPr>
          <p:nvPr>
            <p:ph type="sldImg"/>
          </p:nvPr>
        </p:nvSpPr>
        <p:spPr bwMode="auto"/>
      </p:sp>
      <p:sp>
        <p:nvSpPr>
          <p:cNvPr id="1001117382" name="Notes Placeholder 2"/>
          <p:cNvSpPr>
            <a:spLocks noGrp="1"/>
          </p:cNvSpPr>
          <p:nvPr>
            <p:ph type="body" idx="1"/>
          </p:nvPr>
        </p:nvSpPr>
        <p:spPr bwMode="auto"/>
        <p:txBody>
          <a:bodyPr/>
          <a:lstStyle/>
          <a:p>
            <a:pPr>
              <a:defRPr/>
            </a:pPr>
            <a:r>
              <a:rPr lang="en-US"/>
              <a:t>This is the most important slide for understanding our project's story. We originally envisioned six connected stakeholders — Farmer, Consumer, Government Officer, Investor, Reseller and Administrator — plus a full backend. In practice, that scope combined with our limited development time and backend complexity meant we had to prioritize. We chose to build the Farmer side completely rather than build five stakeholders shallowly. So today we're showing a substantial, working Farmer prototype. Consumer, Government, Investor, Reseller and Administrator modules were not implemented, and the backend — meaning a full server and database — was not completed either. We want to be direct about this: it reflects a scope decision we made deliberately, not something we're hiding.</a:t>
            </a:r>
            <a:endParaRPr lang="en-US"/>
          </a:p>
        </p:txBody>
      </p:sp>
      <p:sp>
        <p:nvSpPr>
          <p:cNvPr id="559662133"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1934366" name="Slide Image Placeholder 1"/>
          <p:cNvSpPr>
            <a:spLocks noChangeAspect="1" noGrp="1" noRot="1"/>
          </p:cNvSpPr>
          <p:nvPr>
            <p:ph type="sldImg"/>
          </p:nvPr>
        </p:nvSpPr>
        <p:spPr bwMode="auto"/>
      </p:sp>
      <p:sp>
        <p:nvSpPr>
          <p:cNvPr id="1585553337" name="Notes Placeholder 2"/>
          <p:cNvSpPr>
            <a:spLocks noGrp="1"/>
          </p:cNvSpPr>
          <p:nvPr>
            <p:ph type="body" idx="1"/>
          </p:nvPr>
        </p:nvSpPr>
        <p:spPr bwMode="auto"/>
        <p:txBody>
          <a:bodyPr/>
          <a:lstStyle/>
          <a:p>
            <a:pPr>
              <a:defRPr/>
            </a:pPr>
            <a:r>
              <a:rPr lang="en-US"/>
              <a:t>Here's our updated timeline, shown in relative project weeks since we didn't want to invent exact calendar dates that weren't part of our original records. We started with requirements and planning, moved into UI/UX design, then spent the bulk of our time on Farmer-side development. Open-Meteo and Gemini integration happened in parallel with monitoring, marketplace and notification features, followed by testing, debugging, and documentation. Feel free to adjust this to exact dates if needed for submission.</a:t>
            </a:r>
            <a:endParaRPr lang="en-US"/>
          </a:p>
        </p:txBody>
      </p:sp>
      <p:sp>
        <p:nvSpPr>
          <p:cNvPr id="200792184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8705004" name="Slide Image Placeholder 1"/>
          <p:cNvSpPr>
            <a:spLocks noChangeAspect="1" noGrp="1" noRot="1"/>
          </p:cNvSpPr>
          <p:nvPr>
            <p:ph type="sldImg"/>
          </p:nvPr>
        </p:nvSpPr>
        <p:spPr bwMode="auto"/>
      </p:sp>
      <p:sp>
        <p:nvSpPr>
          <p:cNvPr id="1632409721" name="Notes Placeholder 2"/>
          <p:cNvSpPr>
            <a:spLocks noGrp="1"/>
          </p:cNvSpPr>
          <p:nvPr>
            <p:ph type="body" idx="1"/>
          </p:nvPr>
        </p:nvSpPr>
        <p:spPr bwMode="auto"/>
        <p:txBody>
          <a:bodyPr/>
          <a:lstStyle/>
          <a:p>
            <a:pPr>
              <a:defRPr/>
            </a:pPr>
            <a:r>
              <a:rPr lang="en-US"/>
              <a:t>Rather than listing every screen, we've grouped what we built into five categories. Farm Management covers registration and crop tracking. AI Decision Support is our biggest category — crop recommendations, an AI Farm Intelligence Center, disease analysis, and guidance on pests, fertilizer, irrigation, yield, profit and market trends. Monitoring covers live Open-Meteo weather and our farm monitoring dashboard, which includes simulated IoT telemetry — we'll clarify that 'simulated' point on the architecture slide. Farmer Services covers the seasonal planner, marketplace, orders and notifications, and the whole app supports Bangla and English.</a:t>
            </a:r>
            <a:endParaRPr lang="en-US"/>
          </a:p>
        </p:txBody>
      </p:sp>
      <p:sp>
        <p:nvSpPr>
          <p:cNvPr id="1952353667"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3522382" name="Slide Image Placeholder 1"/>
          <p:cNvSpPr>
            <a:spLocks noChangeAspect="1" noGrp="1" noRot="1"/>
          </p:cNvSpPr>
          <p:nvPr>
            <p:ph type="sldImg"/>
          </p:nvPr>
        </p:nvSpPr>
        <p:spPr bwMode="auto"/>
      </p:sp>
      <p:sp>
        <p:nvSpPr>
          <p:cNvPr id="1873521277" name="Notes Placeholder 2"/>
          <p:cNvSpPr>
            <a:spLocks noGrp="1"/>
          </p:cNvSpPr>
          <p:nvPr>
            <p:ph type="body" idx="1"/>
          </p:nvPr>
        </p:nvSpPr>
        <p:spPr bwMode="auto"/>
        <p:txBody>
          <a:bodyPr/>
          <a:lstStyle/>
          <a:p>
            <a:pPr>
              <a:defRPr/>
            </a:pPr>
            <a:r>
              <a:rPr lang="en-US"/>
              <a:t>Our architecture is straightforward. The farmer interacts with our React and TypeScript frontend. That frontend calls Open-Meteo directly for live weather — temperature, humidity, rainfall, and forecasts — no key needed there. For anything involving Gemini — daily recommendations, our AI assistant, and image-based disease analysis — the frontend goes through a minimal server-side proxy we wrote in Express. That proxy's only job is to keep our Gemini API key out of the browser; it is not a full application backend, and we're not claiming it is. Both weather and AI results feed into the decision support the farmer sees across the dashboard and tools.</a:t>
            </a:r>
            <a:endParaRPr lang="en-US"/>
          </a:p>
        </p:txBody>
      </p:sp>
      <p:sp>
        <p:nvSpPr>
          <p:cNvPr id="208610941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6407451" name="Slide Image Placeholder 1"/>
          <p:cNvSpPr>
            <a:spLocks noChangeAspect="1" noGrp="1" noRot="1"/>
          </p:cNvSpPr>
          <p:nvPr>
            <p:ph type="sldImg"/>
          </p:nvPr>
        </p:nvSpPr>
        <p:spPr bwMode="auto"/>
      </p:sp>
      <p:sp>
        <p:nvSpPr>
          <p:cNvPr id="967600473" name="Notes Placeholder 2"/>
          <p:cNvSpPr>
            <a:spLocks noGrp="1"/>
          </p:cNvSpPr>
          <p:nvPr>
            <p:ph type="body" idx="1"/>
          </p:nvPr>
        </p:nvSpPr>
        <p:spPr bwMode="auto"/>
        <p:txBody>
          <a:bodyPr/>
          <a:lstStyle/>
          <a:p>
            <a:pPr>
              <a:defRPr/>
            </a:pPr>
            <a:r>
              <a:rPr lang="en-US"/>
              <a:t>We tested at several levels. TypeScript type-checking and a production build confirmed the code compiles cleanly and builds into deployable assets. We manually tested Open-Meteo and Gemini API calls, including what happens when the Gemini key or network is unavailable — our fallback rule-based advisory kicks in so the UI never breaks. We also walked through every route, tested Bangla/English switching, and checked the layout on our target mobile frame. To be transparent: we don't yet have an automated unit-test suite — our testing was primarily build verification, live API testing, and manual walkthroughs. [Insert screenshots here.]</a:t>
            </a:r>
            <a:endParaRPr lang="en-US"/>
          </a:p>
        </p:txBody>
      </p:sp>
      <p:sp>
        <p:nvSpPr>
          <p:cNvPr id="945384777"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7999282" name="Slide Image Placeholder 1"/>
          <p:cNvSpPr>
            <a:spLocks noChangeAspect="1" noGrp="1" noRot="1"/>
          </p:cNvSpPr>
          <p:nvPr>
            <p:ph type="sldImg"/>
          </p:nvPr>
        </p:nvSpPr>
        <p:spPr bwMode="auto"/>
      </p:sp>
      <p:sp>
        <p:nvSpPr>
          <p:cNvPr id="1179086294" name="Notes Placeholder 2"/>
          <p:cNvSpPr>
            <a:spLocks noGrp="1"/>
          </p:cNvSpPr>
          <p:nvPr>
            <p:ph type="body" idx="1"/>
          </p:nvPr>
        </p:nvSpPr>
        <p:spPr bwMode="auto"/>
        <p:txBody>
          <a:bodyPr/>
          <a:lstStyle/>
          <a:p>
            <a:pPr>
              <a:defRPr/>
            </a:pPr>
            <a:r>
              <a:rPr lang="en-US"/>
              <a:t>The scope and time pressure we mentioned earlier led us to prioritize the farmer workflow — that's solved. The backend not being complete is something we're carrying forward as future work, not something we solved this term. We added error handling and fallback logic for external API reliability and for runtime data errors in React. Not having physical IoT hardware, we built a simulated monitoring prototype instead — that's a partial solution, since real sensors are still future work. And on team coordination: we worked collaboratively throughout, with a centralized final push to GitHub from one machine — that workflow held up fine for a team our size.</a:t>
            </a:r>
            <a:endParaRPr lang="en-US"/>
          </a:p>
        </p:txBody>
      </p:sp>
      <p:sp>
        <p:nvSpPr>
          <p:cNvPr id="3784576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5340310" name="Slide Image Placeholder 1"/>
          <p:cNvSpPr>
            <a:spLocks noChangeAspect="1" noGrp="1" noRot="1"/>
          </p:cNvSpPr>
          <p:nvPr>
            <p:ph type="sldImg"/>
          </p:nvPr>
        </p:nvSpPr>
        <p:spPr bwMode="auto"/>
      </p:sp>
      <p:sp>
        <p:nvSpPr>
          <p:cNvPr id="1710996903" name="Notes Placeholder 2"/>
          <p:cNvSpPr>
            <a:spLocks noGrp="1"/>
          </p:cNvSpPr>
          <p:nvPr>
            <p:ph type="body" idx="1"/>
          </p:nvPr>
        </p:nvSpPr>
        <p:spPr bwMode="auto"/>
        <p:txBody>
          <a:bodyPr/>
          <a:lstStyle/>
          <a:p>
            <a:pPr>
              <a:defRPr/>
            </a:pPr>
            <a:r>
              <a:rPr lang="en-US"/>
              <a:t>To summarize where we landed: of the six stakeholders we planned, we fully delivered one — the Farmer — but delivered it with real depth: AI guidance, live weather, farm management, monitoring, a marketplace, and seasonal planning all working together. [Walk through the inserted screenshots here — Dashboard, Crop Recommendation, AI Intelligence Center, Disease Analysis, Farm Monitoring, and Marketplace.]</a:t>
            </a:r>
            <a:endParaRPr lang="en-US"/>
          </a:p>
        </p:txBody>
      </p:sp>
      <p:sp>
        <p:nvSpPr>
          <p:cNvPr id="1862797908"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8801123" name="Slide Image Placeholder 1"/>
          <p:cNvSpPr>
            <a:spLocks noChangeAspect="1" noGrp="1" noRot="1"/>
          </p:cNvSpPr>
          <p:nvPr>
            <p:ph type="sldImg"/>
          </p:nvPr>
        </p:nvSpPr>
        <p:spPr bwMode="auto"/>
      </p:sp>
      <p:sp>
        <p:nvSpPr>
          <p:cNvPr id="1450243834" name="Notes Placeholder 2"/>
          <p:cNvSpPr>
            <a:spLocks noGrp="1"/>
          </p:cNvSpPr>
          <p:nvPr>
            <p:ph type="body" idx="1"/>
          </p:nvPr>
        </p:nvSpPr>
        <p:spPr bwMode="auto"/>
        <p:txBody>
          <a:bodyPr/>
          <a:lstStyle/>
          <a:p>
            <a:pPr>
              <a:defRPr/>
            </a:pPr>
            <a:r>
              <a:rPr lang="en-US"/>
              <a:t>Being honest about where we stand: there's no completed backend or persistent database yet, five stakeholder modules remain unbuilt, our IoT telemetry is simulated rather than physical, and the marketplace is prototype-level without real payments. We also depend on two external APIs. None of this is implemented today, but it's a clear roadmap: complete the backend, connect the remaining stakeholders, move to real IoT sensors, add a production marketplace with payments, and eventually explore more localized AI/ML models as we scale.</a:t>
            </a:r>
            <a:endParaRPr lang="en-US"/>
          </a:p>
        </p:txBody>
      </p:sp>
      <p:sp>
        <p:nvSpPr>
          <p:cNvPr id="336438755"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711608" name="Slide Image Placeholder 1"/>
          <p:cNvSpPr>
            <a:spLocks noChangeAspect="1" noGrp="1" noRot="1"/>
          </p:cNvSpPr>
          <p:nvPr>
            <p:ph type="sldImg"/>
          </p:nvPr>
        </p:nvSpPr>
        <p:spPr bwMode="auto"/>
      </p:sp>
      <p:sp>
        <p:nvSpPr>
          <p:cNvPr id="974200151" name="Notes Placeholder 2"/>
          <p:cNvSpPr>
            <a:spLocks noGrp="1"/>
          </p:cNvSpPr>
          <p:nvPr>
            <p:ph type="body" idx="1"/>
          </p:nvPr>
        </p:nvSpPr>
        <p:spPr bwMode="auto"/>
        <p:txBody>
          <a:bodyPr/>
          <a:lstStyle/>
          <a:p>
            <a:pPr>
              <a:defRPr/>
            </a:pPr>
            <a:r>
              <a:rPr lang="en-US"/>
              <a:t>The biggest lesson was around scope: managing it well mattered more than trying to do everything. We also learned that integrating pieces together — frontend, weather data, AI — is genuinely harder than building each feature in isolation, and that external APIs need fallback handling by design, not as an afterthought. Looking forward, next time we'd start backend architecture earlier, break work into smaller milestones, define our MVP before expanding scope, and set aside dedicated time for integration and testing rather than treating it as a final step.</a:t>
            </a:r>
            <a:endParaRPr lang="en-US"/>
          </a:p>
        </p:txBody>
      </p:sp>
      <p:sp>
        <p:nvSpPr>
          <p:cNvPr id="1268877240"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9410487" name="Slide Image Placeholder 1"/>
          <p:cNvSpPr>
            <a:spLocks noChangeAspect="1" noGrp="1" noRot="1"/>
          </p:cNvSpPr>
          <p:nvPr>
            <p:ph type="sldImg"/>
          </p:nvPr>
        </p:nvSpPr>
        <p:spPr bwMode="auto"/>
      </p:sp>
      <p:sp>
        <p:nvSpPr>
          <p:cNvPr id="892584456" name="Notes Placeholder 2"/>
          <p:cNvSpPr>
            <a:spLocks noGrp="1"/>
          </p:cNvSpPr>
          <p:nvPr>
            <p:ph type="body" idx="1"/>
          </p:nvPr>
        </p:nvSpPr>
        <p:spPr bwMode="auto"/>
        <p:txBody>
          <a:bodyPr/>
          <a:lstStyle/>
          <a:p>
            <a:pPr>
              <a:defRPr/>
            </a:pPr>
            <a:r>
              <a:rPr lang="en-US"/>
              <a:t>To close: KrishiBazar went from a broad, six-stakeholder concept to a substantial, working Farmer-focused prototype with real AI and weather integration. The natural next step is connecting the remaining ecosystem — Consumer, Government, Investor, Reseller and Administrator — on top of the foundation we've built. Thank you — we're happy to take any questions.</a:t>
            </a:r>
            <a:endParaRPr lang="en-US"/>
          </a:p>
        </p:txBody>
      </p:sp>
      <p:sp>
        <p:nvSpPr>
          <p:cNvPr id="279592499"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 /></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3.png"/><Relationship Id="rId4" Type="http://schemas.openxmlformats.org/officeDocument/2006/relationships/image" Target="../media/image3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F4D3A"/>
        </a:solidFill>
      </p:bgPr>
    </p:bg>
    <p:spTree>
      <p:nvGrpSpPr>
        <p:cNvPr id="1" name=""/>
        <p:cNvGrpSpPr/>
        <p:nvPr/>
      </p:nvGrpSpPr>
      <p:grpSpPr bwMode="auto">
        <a:xfrm>
          <a:off x="0" y="0"/>
          <a:ext cx="0" cy="0"/>
          <a:chOff x="0" y="0"/>
          <a:chExt cx="0" cy="0"/>
        </a:xfrm>
      </p:grpSpPr>
      <p:sp>
        <p:nvSpPr>
          <p:cNvPr id="1568204889" name="Shape 0"/>
          <p:cNvSpPr/>
          <p:nvPr/>
        </p:nvSpPr>
        <p:spPr bwMode="auto">
          <a:xfrm>
            <a:off x="8961120" y="-2011680"/>
            <a:ext cx="6400800" cy="6400800"/>
          </a:xfrm>
          <a:prstGeom prst="ellipse">
            <a:avLst/>
          </a:prstGeom>
          <a:solidFill>
            <a:srgbClr val="163A2B"/>
          </a:solidFill>
          <a:ln/>
        </p:spPr>
      </p:sp>
      <p:sp>
        <p:nvSpPr>
          <p:cNvPr id="126412198" name="Shape 1"/>
          <p:cNvSpPr/>
          <p:nvPr/>
        </p:nvSpPr>
        <p:spPr bwMode="auto">
          <a:xfrm>
            <a:off x="-2286000" y="4754880"/>
            <a:ext cx="5029200" cy="5029200"/>
          </a:xfrm>
          <a:prstGeom prst="ellipse">
            <a:avLst/>
          </a:prstGeom>
          <a:solidFill>
            <a:srgbClr val="163A2B"/>
          </a:solidFill>
          <a:ln/>
        </p:spPr>
      </p:sp>
      <p:sp>
        <p:nvSpPr>
          <p:cNvPr id="210785020" name="Shape 2"/>
          <p:cNvSpPr/>
          <p:nvPr/>
        </p:nvSpPr>
        <p:spPr bwMode="auto">
          <a:xfrm>
            <a:off x="5364785" y="1051560"/>
            <a:ext cx="1463040" cy="1463040"/>
          </a:xfrm>
          <a:prstGeom prst="ellipse">
            <a:avLst/>
          </a:prstGeom>
          <a:solidFill>
            <a:srgbClr val="FFFFFF"/>
          </a:solidFill>
          <a:ln/>
        </p:spPr>
      </p:sp>
      <p:pic>
        <p:nvPicPr>
          <p:cNvPr id="1553119140" name="Image 0" descr="/home/claude/work/krishibazar_deck_project/icons/sprout_forest.png"/>
          <p:cNvPicPr>
            <a:picLocks noChangeAspect="1"/>
          </p:cNvPicPr>
          <p:nvPr/>
        </p:nvPicPr>
        <p:blipFill rotWithShape="1">
          <a:blip r:embed="rId3"/>
          <a:stretch/>
        </p:blipFill>
        <p:spPr bwMode="auto">
          <a:xfrm>
            <a:off x="5554980" y="1241754"/>
            <a:ext cx="1082650" cy="1082650"/>
          </a:xfrm>
          <a:prstGeom prst="rect">
            <a:avLst/>
          </a:prstGeom>
        </p:spPr>
      </p:pic>
      <p:sp>
        <p:nvSpPr>
          <p:cNvPr id="114914947" name="Text 3"/>
          <p:cNvSpPr txBox="1"/>
          <p:nvPr/>
        </p:nvSpPr>
        <p:spPr bwMode="auto">
          <a:xfrm>
            <a:off x="731520" y="2788920"/>
            <a:ext cx="10725912" cy="1005840"/>
          </a:xfrm>
          <a:prstGeom prst="rect">
            <a:avLst/>
          </a:prstGeom>
          <a:noFill/>
          <a:ln/>
        </p:spPr>
        <p:txBody>
          <a:bodyPr wrap="square" lIns="0" tIns="0" rIns="0" bIns="0" rtlCol="0" anchor="ctr"/>
          <a:lstStyle/>
          <a:p>
            <a:pPr marL="0" indent="0" algn="ctr">
              <a:buNone/>
              <a:defRPr/>
            </a:pPr>
            <a:r>
              <a:rPr lang="en-US" sz="5400" b="1">
                <a:solidFill>
                  <a:srgbClr val="FFFFFF"/>
                </a:solidFill>
                <a:latin typeface="Cambria"/>
                <a:ea typeface="Cambria"/>
                <a:cs typeface="Cambria"/>
              </a:rPr>
              <a:t>KrishiBazar</a:t>
            </a:r>
            <a:endParaRPr lang="en-US" sz="5400"/>
          </a:p>
        </p:txBody>
      </p:sp>
      <p:sp>
        <p:nvSpPr>
          <p:cNvPr id="1946527702" name="Text 4"/>
          <p:cNvSpPr txBox="1"/>
          <p:nvPr/>
        </p:nvSpPr>
        <p:spPr bwMode="auto">
          <a:xfrm>
            <a:off x="731520" y="3703320"/>
            <a:ext cx="10725912" cy="502920"/>
          </a:xfrm>
          <a:prstGeom prst="rect">
            <a:avLst/>
          </a:prstGeom>
          <a:noFill/>
          <a:ln/>
        </p:spPr>
        <p:txBody>
          <a:bodyPr wrap="square" lIns="0" tIns="0" rIns="0" bIns="0" rtlCol="0" anchor="ctr"/>
          <a:lstStyle/>
          <a:p>
            <a:pPr marL="0" indent="0" algn="ctr">
              <a:buNone/>
              <a:defRPr/>
            </a:pPr>
            <a:r>
              <a:rPr lang="en-US" sz="1900">
                <a:solidFill>
                  <a:srgbClr val="B8792E"/>
                </a:solidFill>
                <a:latin typeface="Calibri"/>
                <a:ea typeface="Calibri"/>
                <a:cs typeface="Calibri"/>
              </a:rPr>
              <a:t>AI-Powered Smart Agriculture Platform</a:t>
            </a:r>
            <a:endParaRPr lang="en-US" sz="1900"/>
          </a:p>
        </p:txBody>
      </p:sp>
      <p:sp>
        <p:nvSpPr>
          <p:cNvPr id="1751604125" name="Text 5"/>
          <p:cNvSpPr txBox="1"/>
          <p:nvPr/>
        </p:nvSpPr>
        <p:spPr bwMode="auto">
          <a:xfrm>
            <a:off x="731520" y="4160519"/>
            <a:ext cx="10725912" cy="365760"/>
          </a:xfrm>
          <a:prstGeom prst="rect">
            <a:avLst/>
          </a:prstGeom>
          <a:noFill/>
          <a:ln/>
        </p:spPr>
        <p:txBody>
          <a:bodyPr wrap="square" lIns="0" tIns="0" rIns="0" bIns="0" rtlCol="0" anchor="ctr"/>
          <a:lstStyle/>
          <a:p>
            <a:pPr marL="0" indent="0" algn="ctr">
              <a:buNone/>
              <a:defRPr/>
            </a:pPr>
            <a:r>
              <a:rPr lang="en-US" sz="1300" i="1">
                <a:solidFill>
                  <a:srgbClr val="CFE0D3"/>
                </a:solidFill>
                <a:latin typeface="Calibri"/>
                <a:ea typeface="Calibri"/>
                <a:cs typeface="Calibri"/>
              </a:rPr>
              <a:t>Final Project Showcase</a:t>
            </a:r>
            <a:endParaRPr lang="en-US" sz="1300"/>
          </a:p>
        </p:txBody>
      </p:sp>
      <p:sp>
        <p:nvSpPr>
          <p:cNvPr id="2085519125" name="Text 6"/>
          <p:cNvSpPr txBox="1"/>
          <p:nvPr/>
        </p:nvSpPr>
        <p:spPr bwMode="auto">
          <a:xfrm flipH="0" flipV="0">
            <a:off x="2743199" y="4526278"/>
            <a:ext cx="4315835" cy="1353355"/>
          </a:xfrm>
          <a:prstGeom prst="rect">
            <a:avLst/>
          </a:prstGeom>
          <a:noFill/>
          <a:ln/>
        </p:spPr>
        <p:txBody>
          <a:bodyPr wrap="square" lIns="0" tIns="0" rIns="0" bIns="0" rtlCol="0" anchor="ctr"/>
          <a:lstStyle/>
          <a:p>
            <a:pPr>
              <a:defRPr/>
            </a:pPr>
            <a:r>
              <a:rPr sz="1400" b="0" i="0" u="none">
                <a:solidFill>
                  <a:schemeClr val="bg1"/>
                </a:solidFill>
                <a:latin typeface="Times New Roman"/>
                <a:ea typeface="Times New Roman"/>
                <a:cs typeface="Times New Roman"/>
              </a:rPr>
              <a:t>Muhammad Faujul Kabir - 2023200000794</a:t>
            </a:r>
            <a:endParaRPr sz="1400">
              <a:solidFill>
                <a:schemeClr val="bg1"/>
              </a:solidFill>
            </a:endParaRPr>
          </a:p>
          <a:p>
            <a:pPr>
              <a:defRPr/>
            </a:pPr>
            <a:r>
              <a:rPr sz="1400" b="0" i="0" u="none">
                <a:solidFill>
                  <a:schemeClr val="bg1"/>
                </a:solidFill>
                <a:latin typeface="Times New Roman"/>
                <a:ea typeface="Times New Roman"/>
                <a:cs typeface="Times New Roman"/>
              </a:rPr>
              <a:t>Md. Rakib Hasan - 2023200000769</a:t>
            </a:r>
            <a:endParaRPr sz="1400">
              <a:solidFill>
                <a:schemeClr val="bg1"/>
              </a:solidFill>
            </a:endParaRPr>
          </a:p>
          <a:p>
            <a:pPr>
              <a:defRPr/>
            </a:pPr>
            <a:r>
              <a:rPr sz="1400" b="0" i="0" u="none">
                <a:solidFill>
                  <a:schemeClr val="bg1"/>
                </a:solidFill>
                <a:latin typeface="Times New Roman"/>
                <a:ea typeface="Times New Roman"/>
                <a:cs typeface="Times New Roman"/>
              </a:rPr>
              <a:t>Md. Mahmud Hossain - 2023200000799</a:t>
            </a:r>
            <a:endParaRPr sz="1400">
              <a:solidFill>
                <a:schemeClr val="bg1"/>
              </a:solidFill>
            </a:endParaRPr>
          </a:p>
          <a:p>
            <a:pPr>
              <a:defRPr/>
            </a:pPr>
            <a:r>
              <a:rPr sz="1400" b="0" i="0" u="none">
                <a:solidFill>
                  <a:schemeClr val="bg1"/>
                </a:solidFill>
                <a:latin typeface="Times New Roman"/>
                <a:ea typeface="Times New Roman"/>
                <a:cs typeface="Times New Roman"/>
              </a:rPr>
              <a:t>Jubair Abdullah - 2023200000773</a:t>
            </a:r>
            <a:endParaRPr sz="1400"/>
          </a:p>
          <a:p>
            <a:pPr marL="0" indent="0" algn="ctr">
              <a:buNone/>
              <a:defRPr/>
            </a:pPr>
            <a:endParaRPr sz="1400"/>
          </a:p>
        </p:txBody>
      </p:sp>
      <p:sp>
        <p:nvSpPr>
          <p:cNvPr id="1525319714" name="Text 7"/>
          <p:cNvSpPr txBox="1"/>
          <p:nvPr/>
        </p:nvSpPr>
        <p:spPr bwMode="auto">
          <a:xfrm>
            <a:off x="731520" y="5961888"/>
            <a:ext cx="10725912" cy="292608"/>
          </a:xfrm>
          <a:prstGeom prst="rect">
            <a:avLst/>
          </a:prstGeom>
          <a:noFill/>
          <a:ln/>
        </p:spPr>
        <p:txBody>
          <a:bodyPr wrap="square" lIns="0" tIns="0" rIns="0" bIns="0" rtlCol="0" anchor="ctr"/>
          <a:lstStyle/>
          <a:p>
            <a:pPr marL="0" indent="0" algn="ctr">
              <a:buNone/>
              <a:defRPr/>
            </a:pPr>
            <a:r>
              <a:rPr lang="en-US" sz="1150">
                <a:solidFill>
                  <a:srgbClr val="B9CFC0"/>
                </a:solidFill>
                <a:latin typeface="Calibri"/>
                <a:ea typeface="Calibri"/>
                <a:cs typeface="Calibri"/>
              </a:rPr>
              <a:t>Course: Software Development and Project Management   |   Instructor: Ms. Namirah Rasul</a:t>
            </a:r>
            <a:endParaRPr lang="en-US" sz="1150"/>
          </a:p>
        </p:txBody>
      </p:sp>
      <p:sp>
        <p:nvSpPr>
          <p:cNvPr id="459859665" name="Text 8"/>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487511046" name="Text 9"/>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1</a:t>
            </a:r>
            <a:endParaRPr lang="en-US" sz="900"/>
          </a:p>
        </p:txBody>
      </p:sp>
      <p:sp>
        <p:nvSpPr>
          <p:cNvPr id="2094974765" name=""/>
          <p:cNvSpPr txBox="1"/>
          <p:nvPr/>
        </p:nvSpPr>
        <p:spPr bwMode="auto">
          <a:xfrm rot="0" flipH="0" flipV="0">
            <a:off x="6850000" y="4799134"/>
            <a:ext cx="4222237"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chemeClr val="bg1"/>
                </a:solidFill>
                <a:latin typeface="Times New Roman"/>
                <a:ea typeface="Times New Roman"/>
                <a:cs typeface="Times New Roman"/>
              </a:rPr>
              <a:t>https://github.com/Faujull/KrishiBazar</a:t>
            </a:r>
            <a:endParaRPr sz="2000">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997958900"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INTRODUCTION</a:t>
            </a:r>
            <a:endParaRPr lang="en-US" sz="1150"/>
          </a:p>
        </p:txBody>
      </p:sp>
      <p:sp>
        <p:nvSpPr>
          <p:cNvPr id="820894327"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What Is KrishiBazar?</a:t>
            </a:r>
            <a:endParaRPr lang="en-US" sz="2800"/>
          </a:p>
        </p:txBody>
      </p:sp>
      <p:sp>
        <p:nvSpPr>
          <p:cNvPr id="106627168" name="Text 2"/>
          <p:cNvSpPr txBox="1"/>
          <p:nvPr/>
        </p:nvSpPr>
        <p:spPr bwMode="auto">
          <a:xfrm>
            <a:off x="548640" y="1417320"/>
            <a:ext cx="6858000" cy="914400"/>
          </a:xfrm>
          <a:prstGeom prst="rect">
            <a:avLst/>
          </a:prstGeom>
          <a:noFill/>
          <a:ln/>
        </p:spPr>
        <p:txBody>
          <a:bodyPr wrap="square" lIns="0" tIns="0" rIns="0" bIns="0" rtlCol="0" anchor="ctr"/>
          <a:lstStyle/>
          <a:p>
            <a:pPr marL="0" indent="0">
              <a:lnSpc>
                <a:spcPct val="118000"/>
              </a:lnSpc>
              <a:buNone/>
              <a:defRPr/>
            </a:pPr>
            <a:r>
              <a:rPr lang="en-US" sz="1500">
                <a:solidFill>
                  <a:srgbClr val="222B26"/>
                </a:solidFill>
                <a:latin typeface="Calibri"/>
                <a:ea typeface="Calibri"/>
                <a:cs typeface="Calibri"/>
              </a:rPr>
              <a:t>A bilingual (বাংলা / English) smart-agriculture platform for Bangladeshi farmers — unifying live weather, AI-driven crop guidance, farm management, and a produce marketplace into one mobile-first application.</a:t>
            </a:r>
            <a:endParaRPr lang="en-US" sz="1500"/>
          </a:p>
        </p:txBody>
      </p:sp>
      <p:sp>
        <p:nvSpPr>
          <p:cNvPr id="15866334" name="Shape 3"/>
          <p:cNvSpPr/>
          <p:nvPr/>
        </p:nvSpPr>
        <p:spPr bwMode="auto">
          <a:xfrm>
            <a:off x="548640" y="2423160"/>
            <a:ext cx="6858000" cy="1417320"/>
          </a:xfrm>
          <a:prstGeom prst="roundRect">
            <a:avLst>
              <a:gd name="adj" fmla="val 5806"/>
            </a:avLst>
          </a:prstGeom>
          <a:solidFill>
            <a:srgbClr val="EAF0E6"/>
          </a:solidFill>
          <a:ln/>
        </p:spPr>
      </p:sp>
      <p:sp>
        <p:nvSpPr>
          <p:cNvPr id="200053176" name="Text 4"/>
          <p:cNvSpPr txBox="1"/>
          <p:nvPr/>
        </p:nvSpPr>
        <p:spPr bwMode="auto">
          <a:xfrm>
            <a:off x="777240" y="2578608"/>
            <a:ext cx="6400800" cy="29260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The Problem</a:t>
            </a:r>
            <a:endParaRPr lang="en-US" sz="1300"/>
          </a:p>
        </p:txBody>
      </p:sp>
      <p:sp>
        <p:nvSpPr>
          <p:cNvPr id="54367318" name="Text 5"/>
          <p:cNvSpPr txBox="1"/>
          <p:nvPr/>
        </p:nvSpPr>
        <p:spPr bwMode="auto">
          <a:xfrm>
            <a:off x="777240" y="2907792"/>
            <a:ext cx="6400800" cy="822960"/>
          </a:xfrm>
          <a:prstGeom prst="rect">
            <a:avLst/>
          </a:prstGeom>
          <a:noFill/>
          <a:ln/>
        </p:spPr>
        <p:txBody>
          <a:bodyPr wrap="square" lIns="0" tIns="0" rIns="0" bIns="0" rtlCol="0" anchor="ctr"/>
          <a:lstStyle/>
          <a:p>
            <a:pPr marL="0" indent="0">
              <a:lnSpc>
                <a:spcPct val="114999"/>
              </a:lnSpc>
              <a:buNone/>
              <a:defRPr/>
            </a:pPr>
            <a:r>
              <a:rPr lang="en-US" sz="1250">
                <a:solidFill>
                  <a:srgbClr val="222B26"/>
                </a:solidFill>
                <a:latin typeface="Calibri"/>
                <a:ea typeface="Calibri"/>
                <a:cs typeface="Calibri"/>
              </a:rPr>
              <a:t>Farmers juggle disconnected tools for weather, market prices, disease diagnosis, and sales — with little localized AI guidance to support day-to-day decisions.</a:t>
            </a:r>
            <a:endParaRPr lang="en-US" sz="1250"/>
          </a:p>
        </p:txBody>
      </p:sp>
      <p:sp>
        <p:nvSpPr>
          <p:cNvPr id="2111262500" name="Shape 6"/>
          <p:cNvSpPr/>
          <p:nvPr/>
        </p:nvSpPr>
        <p:spPr bwMode="auto">
          <a:xfrm>
            <a:off x="7635240" y="1417320"/>
            <a:ext cx="4023360" cy="3429000"/>
          </a:xfrm>
          <a:prstGeom prst="roundRect">
            <a:avLst>
              <a:gd name="adj" fmla="val 2400"/>
            </a:avLst>
          </a:prstGeom>
          <a:solidFill>
            <a:srgbClr val="1F4D3A"/>
          </a:solidFill>
          <a:ln/>
        </p:spPr>
      </p:sp>
      <p:sp>
        <p:nvSpPr>
          <p:cNvPr id="765689004" name="Text 7"/>
          <p:cNvSpPr txBox="1"/>
          <p:nvPr/>
        </p:nvSpPr>
        <p:spPr bwMode="auto">
          <a:xfrm>
            <a:off x="7863840" y="1609344"/>
            <a:ext cx="3566160" cy="274320"/>
          </a:xfrm>
          <a:prstGeom prst="rect">
            <a:avLst/>
          </a:prstGeom>
          <a:noFill/>
          <a:ln/>
        </p:spPr>
        <p:txBody>
          <a:bodyPr wrap="square" lIns="0" tIns="0" rIns="0" bIns="0" rtlCol="0" anchor="ctr"/>
          <a:lstStyle/>
          <a:p>
            <a:pPr marL="0" indent="0">
              <a:buNone/>
              <a:defRPr/>
            </a:pPr>
            <a:r>
              <a:rPr lang="en-US" sz="1100" b="1" spc="150">
                <a:solidFill>
                  <a:srgbClr val="B8792E"/>
                </a:solidFill>
                <a:latin typeface="Calibri"/>
                <a:ea typeface="Calibri"/>
                <a:cs typeface="Calibri"/>
              </a:rPr>
              <a:t>CORE IDEA</a:t>
            </a:r>
            <a:endParaRPr lang="en-US" sz="1100"/>
          </a:p>
        </p:txBody>
      </p:sp>
      <p:sp>
        <p:nvSpPr>
          <p:cNvPr id="322447423" name="Text 8"/>
          <p:cNvSpPr txBox="1"/>
          <p:nvPr/>
        </p:nvSpPr>
        <p:spPr bwMode="auto">
          <a:xfrm>
            <a:off x="7863840" y="1920240"/>
            <a:ext cx="3566160" cy="1051560"/>
          </a:xfrm>
          <a:prstGeom prst="rect">
            <a:avLst/>
          </a:prstGeom>
          <a:noFill/>
          <a:ln/>
        </p:spPr>
        <p:txBody>
          <a:bodyPr wrap="square" lIns="0" tIns="0" rIns="0" bIns="0" rtlCol="0" anchor="ctr"/>
          <a:lstStyle/>
          <a:p>
            <a:pPr marL="0" indent="0">
              <a:lnSpc>
                <a:spcPct val="118000"/>
              </a:lnSpc>
              <a:buNone/>
              <a:defRPr/>
            </a:pPr>
            <a:r>
              <a:rPr lang="en-US" sz="1550" i="1">
                <a:solidFill>
                  <a:srgbClr val="FFFFFF"/>
                </a:solidFill>
                <a:latin typeface="Cambria"/>
                <a:ea typeface="Cambria"/>
                <a:cs typeface="Cambria"/>
              </a:rPr>
              <a:t>One app that walks a farmer from planting to profit — then connects that harvest directly to a buyer.</a:t>
            </a:r>
            <a:endParaRPr lang="en-US" sz="1550"/>
          </a:p>
        </p:txBody>
      </p:sp>
      <p:sp>
        <p:nvSpPr>
          <p:cNvPr id="1752049055" name="Shape 9"/>
          <p:cNvSpPr/>
          <p:nvPr/>
        </p:nvSpPr>
        <p:spPr bwMode="auto">
          <a:xfrm>
            <a:off x="7863840" y="3063240"/>
            <a:ext cx="3337560" cy="0"/>
          </a:xfrm>
          <a:prstGeom prst="line">
            <a:avLst/>
          </a:prstGeom>
          <a:noFill/>
          <a:ln w="12700">
            <a:solidFill>
              <a:srgbClr val="3E6B54"/>
            </a:solidFill>
            <a:prstDash val="solid"/>
          </a:ln>
        </p:spPr>
      </p:sp>
      <p:sp>
        <p:nvSpPr>
          <p:cNvPr id="769541411" name="Text 10"/>
          <p:cNvSpPr txBox="1"/>
          <p:nvPr/>
        </p:nvSpPr>
        <p:spPr bwMode="auto">
          <a:xfrm>
            <a:off x="7863840" y="3246120"/>
            <a:ext cx="3566160" cy="1463040"/>
          </a:xfrm>
          <a:prstGeom prst="rect">
            <a:avLst/>
          </a:prstGeom>
          <a:noFill/>
          <a:ln/>
        </p:spPr>
        <p:txBody>
          <a:bodyPr wrap="square" lIns="0" tIns="0" rIns="0" bIns="0" rtlCol="0" anchor="ctr"/>
          <a:lstStyle/>
          <a:p>
            <a:pPr marL="0" indent="0">
              <a:lnSpc>
                <a:spcPct val="125000"/>
              </a:lnSpc>
              <a:buNone/>
              <a:defRPr/>
            </a:pPr>
            <a:r>
              <a:rPr lang="en-US" sz="1150">
                <a:solidFill>
                  <a:srgbClr val="D7E6DA"/>
                </a:solidFill>
                <a:latin typeface="Calibri"/>
                <a:ea typeface="Calibri"/>
                <a:cs typeface="Calibri"/>
              </a:rPr>
              <a:t>This showcase presents the working farmer-side prototype — the portion of the original vision that was fully implemented this term.</a:t>
            </a:r>
            <a:endParaRPr lang="en-US" sz="1150"/>
          </a:p>
        </p:txBody>
      </p:sp>
      <p:sp>
        <p:nvSpPr>
          <p:cNvPr id="2065862167" name="Shape 11"/>
          <p:cNvSpPr/>
          <p:nvPr/>
        </p:nvSpPr>
        <p:spPr bwMode="auto">
          <a:xfrm>
            <a:off x="548640" y="5074920"/>
            <a:ext cx="502920" cy="502920"/>
          </a:xfrm>
          <a:prstGeom prst="ellipse">
            <a:avLst/>
          </a:prstGeom>
          <a:solidFill>
            <a:srgbClr val="1F4D3A"/>
          </a:solidFill>
          <a:ln/>
        </p:spPr>
      </p:sp>
      <p:pic>
        <p:nvPicPr>
          <p:cNvPr id="749657773" name="Image 0" descr="/home/claude/work/krishibazar_deck_project/icons/leaf_white.png"/>
          <p:cNvPicPr>
            <a:picLocks noChangeAspect="1"/>
          </p:cNvPicPr>
          <p:nvPr/>
        </p:nvPicPr>
        <p:blipFill rotWithShape="1">
          <a:blip r:embed="rId3"/>
          <a:stretch/>
        </p:blipFill>
        <p:spPr bwMode="auto">
          <a:xfrm>
            <a:off x="614020" y="5140299"/>
            <a:ext cx="372161" cy="372161"/>
          </a:xfrm>
          <a:prstGeom prst="rect">
            <a:avLst/>
          </a:prstGeom>
        </p:spPr>
      </p:pic>
      <p:sp>
        <p:nvSpPr>
          <p:cNvPr id="580557953" name="Text 12"/>
          <p:cNvSpPr txBox="1"/>
          <p:nvPr/>
        </p:nvSpPr>
        <p:spPr bwMode="auto">
          <a:xfrm>
            <a:off x="201168"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Farmer</a:t>
            </a:r>
            <a:endParaRPr lang="en-US" sz="1150"/>
          </a:p>
        </p:txBody>
      </p:sp>
      <p:pic>
        <p:nvPicPr>
          <p:cNvPr id="1790620604" name="Image 1" descr="/home/claude/work/krishibazar_deck_project/icons/arrowRight_amber.png"/>
          <p:cNvPicPr>
            <a:picLocks noChangeAspect="1"/>
          </p:cNvPicPr>
          <p:nvPr/>
        </p:nvPicPr>
        <p:blipFill rotWithShape="1">
          <a:blip r:embed="rId4"/>
          <a:stretch/>
        </p:blipFill>
        <p:spPr bwMode="auto">
          <a:xfrm>
            <a:off x="1234440" y="5225796"/>
            <a:ext cx="219456" cy="219456"/>
          </a:xfrm>
          <a:prstGeom prst="rect">
            <a:avLst/>
          </a:prstGeom>
        </p:spPr>
      </p:pic>
      <p:sp>
        <p:nvSpPr>
          <p:cNvPr id="905017830" name="Shape 13"/>
          <p:cNvSpPr/>
          <p:nvPr/>
        </p:nvSpPr>
        <p:spPr bwMode="auto">
          <a:xfrm>
            <a:off x="2359152" y="5074920"/>
            <a:ext cx="502920" cy="502920"/>
          </a:xfrm>
          <a:prstGeom prst="ellipse">
            <a:avLst/>
          </a:prstGeom>
          <a:solidFill>
            <a:srgbClr val="1F4D3A"/>
          </a:solidFill>
          <a:ln/>
        </p:spPr>
      </p:sp>
      <p:pic>
        <p:nvPicPr>
          <p:cNvPr id="1580289536" name="Image 2" descr="/home/claude/work/krishibazar_deck_project/icons/clipboard_white.png"/>
          <p:cNvPicPr>
            <a:picLocks noChangeAspect="1"/>
          </p:cNvPicPr>
          <p:nvPr/>
        </p:nvPicPr>
        <p:blipFill rotWithShape="1">
          <a:blip r:embed="rId5"/>
          <a:stretch/>
        </p:blipFill>
        <p:spPr bwMode="auto">
          <a:xfrm>
            <a:off x="2424532" y="5140299"/>
            <a:ext cx="372161" cy="372161"/>
          </a:xfrm>
          <a:prstGeom prst="rect">
            <a:avLst/>
          </a:prstGeom>
        </p:spPr>
      </p:pic>
      <p:sp>
        <p:nvSpPr>
          <p:cNvPr id="1065365799" name="Text 14"/>
          <p:cNvSpPr txBox="1"/>
          <p:nvPr/>
        </p:nvSpPr>
        <p:spPr bwMode="auto">
          <a:xfrm>
            <a:off x="2011680"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Plan</a:t>
            </a:r>
            <a:endParaRPr lang="en-US" sz="1150"/>
          </a:p>
        </p:txBody>
      </p:sp>
      <p:pic>
        <p:nvPicPr>
          <p:cNvPr id="1594608130" name="Image 3" descr="/home/claude/work/krishibazar_deck_project/icons/arrowRight_amber.png"/>
          <p:cNvPicPr>
            <a:picLocks noChangeAspect="1"/>
          </p:cNvPicPr>
          <p:nvPr/>
        </p:nvPicPr>
        <p:blipFill rotWithShape="1">
          <a:blip r:embed="rId4"/>
          <a:stretch/>
        </p:blipFill>
        <p:spPr bwMode="auto">
          <a:xfrm>
            <a:off x="3044952" y="5225796"/>
            <a:ext cx="219456" cy="219456"/>
          </a:xfrm>
          <a:prstGeom prst="rect">
            <a:avLst/>
          </a:prstGeom>
        </p:spPr>
      </p:pic>
      <p:sp>
        <p:nvSpPr>
          <p:cNvPr id="1760282234" name="Shape 15"/>
          <p:cNvSpPr/>
          <p:nvPr/>
        </p:nvSpPr>
        <p:spPr bwMode="auto">
          <a:xfrm>
            <a:off x="4169664" y="5074920"/>
            <a:ext cx="502920" cy="502920"/>
          </a:xfrm>
          <a:prstGeom prst="ellipse">
            <a:avLst/>
          </a:prstGeom>
          <a:solidFill>
            <a:srgbClr val="1F4D3A"/>
          </a:solidFill>
          <a:ln/>
        </p:spPr>
      </p:sp>
      <p:pic>
        <p:nvPicPr>
          <p:cNvPr id="1444533552" name="Image 4" descr="/home/claude/work/krishibazar_deck_project/icons/eye_white.png"/>
          <p:cNvPicPr>
            <a:picLocks noChangeAspect="1"/>
          </p:cNvPicPr>
          <p:nvPr/>
        </p:nvPicPr>
        <p:blipFill rotWithShape="1">
          <a:blip r:embed="rId6"/>
          <a:stretch/>
        </p:blipFill>
        <p:spPr bwMode="auto">
          <a:xfrm>
            <a:off x="4235044" y="5140299"/>
            <a:ext cx="372161" cy="372161"/>
          </a:xfrm>
          <a:prstGeom prst="rect">
            <a:avLst/>
          </a:prstGeom>
        </p:spPr>
      </p:pic>
      <p:sp>
        <p:nvSpPr>
          <p:cNvPr id="1259459394" name="Text 16"/>
          <p:cNvSpPr txBox="1"/>
          <p:nvPr/>
        </p:nvSpPr>
        <p:spPr bwMode="auto">
          <a:xfrm>
            <a:off x="3822192"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Monitor</a:t>
            </a:r>
            <a:endParaRPr lang="en-US" sz="1150"/>
          </a:p>
        </p:txBody>
      </p:sp>
      <p:pic>
        <p:nvPicPr>
          <p:cNvPr id="113625546" name="Image 5" descr="/home/claude/work/krishibazar_deck_project/icons/arrowRight_amber.png"/>
          <p:cNvPicPr>
            <a:picLocks noChangeAspect="1"/>
          </p:cNvPicPr>
          <p:nvPr/>
        </p:nvPicPr>
        <p:blipFill rotWithShape="1">
          <a:blip r:embed="rId4"/>
          <a:stretch/>
        </p:blipFill>
        <p:spPr bwMode="auto">
          <a:xfrm>
            <a:off x="4855464" y="5225796"/>
            <a:ext cx="219456" cy="219456"/>
          </a:xfrm>
          <a:prstGeom prst="rect">
            <a:avLst/>
          </a:prstGeom>
        </p:spPr>
      </p:pic>
      <p:sp>
        <p:nvSpPr>
          <p:cNvPr id="1305579909" name="Shape 17"/>
          <p:cNvSpPr/>
          <p:nvPr/>
        </p:nvSpPr>
        <p:spPr bwMode="auto">
          <a:xfrm>
            <a:off x="5980176" y="5074920"/>
            <a:ext cx="502920" cy="502920"/>
          </a:xfrm>
          <a:prstGeom prst="ellipse">
            <a:avLst/>
          </a:prstGeom>
          <a:solidFill>
            <a:srgbClr val="1F4D3A"/>
          </a:solidFill>
          <a:ln/>
        </p:spPr>
      </p:sp>
      <p:pic>
        <p:nvPicPr>
          <p:cNvPr id="1986210103" name="Image 6" descr="/home/claude/work/krishibazar_deck_project/icons/stethoscope_white.png"/>
          <p:cNvPicPr>
            <a:picLocks noChangeAspect="1"/>
          </p:cNvPicPr>
          <p:nvPr/>
        </p:nvPicPr>
        <p:blipFill rotWithShape="1">
          <a:blip r:embed="rId7"/>
          <a:stretch/>
        </p:blipFill>
        <p:spPr bwMode="auto">
          <a:xfrm>
            <a:off x="6045556" y="5140299"/>
            <a:ext cx="372161" cy="372161"/>
          </a:xfrm>
          <a:prstGeom prst="rect">
            <a:avLst/>
          </a:prstGeom>
        </p:spPr>
      </p:pic>
      <p:sp>
        <p:nvSpPr>
          <p:cNvPr id="188792983" name="Text 18"/>
          <p:cNvSpPr txBox="1"/>
          <p:nvPr/>
        </p:nvSpPr>
        <p:spPr bwMode="auto">
          <a:xfrm>
            <a:off x="5632704"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Diagnose</a:t>
            </a:r>
            <a:endParaRPr lang="en-US" sz="1150"/>
          </a:p>
        </p:txBody>
      </p:sp>
      <p:pic>
        <p:nvPicPr>
          <p:cNvPr id="488301851" name="Image 7" descr="/home/claude/work/krishibazar_deck_project/icons/arrowRight_amber.png"/>
          <p:cNvPicPr>
            <a:picLocks noChangeAspect="1"/>
          </p:cNvPicPr>
          <p:nvPr/>
        </p:nvPicPr>
        <p:blipFill rotWithShape="1">
          <a:blip r:embed="rId4"/>
          <a:stretch/>
        </p:blipFill>
        <p:spPr bwMode="auto">
          <a:xfrm>
            <a:off x="6665976" y="5225796"/>
            <a:ext cx="219456" cy="219456"/>
          </a:xfrm>
          <a:prstGeom prst="rect">
            <a:avLst/>
          </a:prstGeom>
        </p:spPr>
      </p:pic>
      <p:sp>
        <p:nvSpPr>
          <p:cNvPr id="711365052" name="Shape 19"/>
          <p:cNvSpPr/>
          <p:nvPr/>
        </p:nvSpPr>
        <p:spPr bwMode="auto">
          <a:xfrm>
            <a:off x="7790687" y="5074920"/>
            <a:ext cx="502920" cy="502920"/>
          </a:xfrm>
          <a:prstGeom prst="ellipse">
            <a:avLst/>
          </a:prstGeom>
          <a:solidFill>
            <a:srgbClr val="1F4D3A"/>
          </a:solidFill>
          <a:ln/>
        </p:spPr>
      </p:sp>
      <p:pic>
        <p:nvPicPr>
          <p:cNvPr id="36621760" name="Image 8" descr="/home/claude/work/krishibazar_deck_project/icons/wrench_white.png"/>
          <p:cNvPicPr>
            <a:picLocks noChangeAspect="1"/>
          </p:cNvPicPr>
          <p:nvPr/>
        </p:nvPicPr>
        <p:blipFill rotWithShape="1">
          <a:blip r:embed="rId8"/>
          <a:stretch/>
        </p:blipFill>
        <p:spPr bwMode="auto">
          <a:xfrm>
            <a:off x="7856068" y="5140299"/>
            <a:ext cx="372161" cy="372161"/>
          </a:xfrm>
          <a:prstGeom prst="rect">
            <a:avLst/>
          </a:prstGeom>
        </p:spPr>
      </p:pic>
      <p:sp>
        <p:nvSpPr>
          <p:cNvPr id="628369945" name="Text 20"/>
          <p:cNvSpPr txBox="1"/>
          <p:nvPr/>
        </p:nvSpPr>
        <p:spPr bwMode="auto">
          <a:xfrm>
            <a:off x="7443216"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Manage</a:t>
            </a:r>
            <a:endParaRPr lang="en-US" sz="1150"/>
          </a:p>
        </p:txBody>
      </p:sp>
      <p:pic>
        <p:nvPicPr>
          <p:cNvPr id="1353987578" name="Image 9" descr="/home/claude/work/krishibazar_deck_project/icons/arrowRight_amber.png"/>
          <p:cNvPicPr>
            <a:picLocks noChangeAspect="1"/>
          </p:cNvPicPr>
          <p:nvPr/>
        </p:nvPicPr>
        <p:blipFill rotWithShape="1">
          <a:blip r:embed="rId4"/>
          <a:stretch/>
        </p:blipFill>
        <p:spPr bwMode="auto">
          <a:xfrm>
            <a:off x="8476488" y="5225796"/>
            <a:ext cx="219456" cy="219456"/>
          </a:xfrm>
          <a:prstGeom prst="rect">
            <a:avLst/>
          </a:prstGeom>
        </p:spPr>
      </p:pic>
      <p:sp>
        <p:nvSpPr>
          <p:cNvPr id="1121009471" name="Shape 21"/>
          <p:cNvSpPr/>
          <p:nvPr/>
        </p:nvSpPr>
        <p:spPr bwMode="auto">
          <a:xfrm>
            <a:off x="9601200" y="5074920"/>
            <a:ext cx="502920" cy="502920"/>
          </a:xfrm>
          <a:prstGeom prst="ellipse">
            <a:avLst/>
          </a:prstGeom>
          <a:solidFill>
            <a:srgbClr val="1F4D3A"/>
          </a:solidFill>
          <a:ln/>
        </p:spPr>
      </p:sp>
      <p:pic>
        <p:nvPicPr>
          <p:cNvPr id="1941432210" name="Image 10" descr="/home/claude/work/krishibazar_deck_project/icons/cart_white.png"/>
          <p:cNvPicPr>
            <a:picLocks noChangeAspect="1"/>
          </p:cNvPicPr>
          <p:nvPr/>
        </p:nvPicPr>
        <p:blipFill rotWithShape="1">
          <a:blip r:embed="rId9"/>
          <a:stretch/>
        </p:blipFill>
        <p:spPr bwMode="auto">
          <a:xfrm>
            <a:off x="9666580" y="5140299"/>
            <a:ext cx="372161" cy="372161"/>
          </a:xfrm>
          <a:prstGeom prst="rect">
            <a:avLst/>
          </a:prstGeom>
        </p:spPr>
      </p:pic>
      <p:sp>
        <p:nvSpPr>
          <p:cNvPr id="995213942" name="Text 22"/>
          <p:cNvSpPr txBox="1"/>
          <p:nvPr/>
        </p:nvSpPr>
        <p:spPr bwMode="auto">
          <a:xfrm>
            <a:off x="9253728" y="5632704"/>
            <a:ext cx="1197864" cy="274320"/>
          </a:xfrm>
          <a:prstGeom prst="rect">
            <a:avLst/>
          </a:prstGeom>
          <a:noFill/>
          <a:ln/>
        </p:spPr>
        <p:txBody>
          <a:bodyPr wrap="square" lIns="0" tIns="0" rIns="0" bIns="0" rtlCol="0" anchor="ctr"/>
          <a:lstStyle/>
          <a:p>
            <a:pPr marL="0" indent="0" algn="ctr">
              <a:buNone/>
              <a:defRPr/>
            </a:pPr>
            <a:r>
              <a:rPr lang="en-US" sz="1150" b="1">
                <a:solidFill>
                  <a:srgbClr val="222B26"/>
                </a:solidFill>
                <a:latin typeface="Calibri"/>
                <a:ea typeface="Calibri"/>
                <a:cs typeface="Calibri"/>
              </a:rPr>
              <a:t>Sell</a:t>
            </a:r>
            <a:endParaRPr lang="en-US" sz="1150"/>
          </a:p>
        </p:txBody>
      </p:sp>
      <p:sp>
        <p:nvSpPr>
          <p:cNvPr id="765335415" name="Text 23"/>
          <p:cNvSpPr txBox="1"/>
          <p:nvPr/>
        </p:nvSpPr>
        <p:spPr bwMode="auto">
          <a:xfrm>
            <a:off x="548640" y="6080760"/>
            <a:ext cx="11064240" cy="365760"/>
          </a:xfrm>
          <a:prstGeom prst="rect">
            <a:avLst/>
          </a:prstGeom>
          <a:noFill/>
          <a:ln/>
        </p:spPr>
        <p:txBody>
          <a:bodyPr wrap="square" lIns="0" tIns="0" rIns="0" bIns="0" rtlCol="0" anchor="ctr"/>
          <a:lstStyle/>
          <a:p>
            <a:pPr marL="0" indent="0">
              <a:buNone/>
              <a:defRPr/>
            </a:pPr>
            <a:r>
              <a:rPr lang="en-US" sz="1050" i="1">
                <a:solidFill>
                  <a:srgbClr val="5C6B62"/>
                </a:solidFill>
                <a:latin typeface="Calibri"/>
                <a:ea typeface="Calibri"/>
                <a:cs typeface="Calibri"/>
              </a:rPr>
              <a:t>Note: the current prototype fully implements the Farmer experience above. The original concept also envisioned Consumer, Government, Investor, Reseller and Administrator roles — see next slide.</a:t>
            </a:r>
            <a:endParaRPr lang="en-US" sz="1050"/>
          </a:p>
        </p:txBody>
      </p:sp>
      <p:sp>
        <p:nvSpPr>
          <p:cNvPr id="1675497095" name="Text 24"/>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1986622912" name="Text 25"/>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665485606"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SCOPE &amp; PRIORITIZATION</a:t>
            </a:r>
            <a:endParaRPr lang="en-US" sz="1150"/>
          </a:p>
        </p:txBody>
      </p:sp>
      <p:sp>
        <p:nvSpPr>
          <p:cNvPr id="50049208"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From Original Plan to Final Implementation</a:t>
            </a:r>
            <a:endParaRPr lang="en-US" sz="2800"/>
          </a:p>
        </p:txBody>
      </p:sp>
      <p:sp>
        <p:nvSpPr>
          <p:cNvPr id="1199187592" name="Shape 2"/>
          <p:cNvSpPr/>
          <p:nvPr/>
        </p:nvSpPr>
        <p:spPr bwMode="auto">
          <a:xfrm>
            <a:off x="548640" y="1417320"/>
            <a:ext cx="2487168" cy="1554480"/>
          </a:xfrm>
          <a:prstGeom prst="roundRect">
            <a:avLst>
              <a:gd name="adj" fmla="val 5294"/>
            </a:avLst>
          </a:prstGeom>
          <a:solidFill>
            <a:srgbClr val="EAF0E6"/>
          </a:solidFill>
          <a:ln/>
        </p:spPr>
      </p:sp>
      <p:sp>
        <p:nvSpPr>
          <p:cNvPr id="1773637403" name="Text 3"/>
          <p:cNvSpPr txBox="1"/>
          <p:nvPr/>
        </p:nvSpPr>
        <p:spPr bwMode="auto">
          <a:xfrm>
            <a:off x="731520" y="1581912"/>
            <a:ext cx="2121408" cy="411480"/>
          </a:xfrm>
          <a:prstGeom prst="rect">
            <a:avLst/>
          </a:prstGeom>
          <a:noFill/>
          <a:ln/>
        </p:spPr>
        <p:txBody>
          <a:bodyPr wrap="square" lIns="0" tIns="0" rIns="0" bIns="0" rtlCol="0" anchor="ctr"/>
          <a:lstStyle/>
          <a:p>
            <a:pPr marL="0" indent="0">
              <a:buNone/>
              <a:defRPr/>
            </a:pPr>
            <a:r>
              <a:rPr lang="en-US" sz="1150" b="1" spc="50">
                <a:solidFill>
                  <a:srgbClr val="1F4D3A"/>
                </a:solidFill>
                <a:latin typeface="Calibri"/>
                <a:ea typeface="Calibri"/>
                <a:cs typeface="Calibri"/>
              </a:rPr>
              <a:t>ORIGINAL VISION</a:t>
            </a:r>
            <a:endParaRPr lang="en-US" sz="1150"/>
          </a:p>
        </p:txBody>
      </p:sp>
      <p:sp>
        <p:nvSpPr>
          <p:cNvPr id="1045092921" name="Text 4"/>
          <p:cNvSpPr txBox="1"/>
          <p:nvPr/>
        </p:nvSpPr>
        <p:spPr bwMode="auto">
          <a:xfrm>
            <a:off x="731520" y="1984248"/>
            <a:ext cx="2121408" cy="914400"/>
          </a:xfrm>
          <a:prstGeom prst="rect">
            <a:avLst/>
          </a:prstGeom>
          <a:noFill/>
          <a:ln/>
        </p:spPr>
        <p:txBody>
          <a:bodyPr wrap="square" lIns="0" tIns="0" rIns="0" bIns="0" rtlCol="0" anchor="ctr"/>
          <a:lstStyle/>
          <a:p>
            <a:pPr marL="0" indent="0">
              <a:lnSpc>
                <a:spcPct val="114999"/>
              </a:lnSpc>
              <a:buNone/>
              <a:defRPr/>
            </a:pPr>
            <a:r>
              <a:rPr lang="en-US" sz="1200">
                <a:solidFill>
                  <a:srgbClr val="222B26"/>
                </a:solidFill>
                <a:latin typeface="Calibri"/>
                <a:ea typeface="Calibri"/>
                <a:cs typeface="Calibri"/>
              </a:rPr>
              <a:t>Six connected stakeholder groups across one ecosystem</a:t>
            </a:r>
            <a:endParaRPr lang="en-US" sz="1200"/>
          </a:p>
        </p:txBody>
      </p:sp>
      <p:pic>
        <p:nvPicPr>
          <p:cNvPr id="1791793941" name="Image 0" descr="/home/claude/work/krishibazar_deck_project/icons/arrowRight_amber.png"/>
          <p:cNvPicPr>
            <a:picLocks noChangeAspect="1"/>
          </p:cNvPicPr>
          <p:nvPr/>
        </p:nvPicPr>
        <p:blipFill rotWithShape="1">
          <a:blip r:embed="rId3"/>
          <a:stretch/>
        </p:blipFill>
        <p:spPr bwMode="auto">
          <a:xfrm>
            <a:off x="3054096" y="2084832"/>
            <a:ext cx="219456" cy="219456"/>
          </a:xfrm>
          <a:prstGeom prst="rect">
            <a:avLst/>
          </a:prstGeom>
        </p:spPr>
      </p:pic>
      <p:sp>
        <p:nvSpPr>
          <p:cNvPr id="289956541" name="Shape 5"/>
          <p:cNvSpPr/>
          <p:nvPr/>
        </p:nvSpPr>
        <p:spPr bwMode="auto">
          <a:xfrm>
            <a:off x="3291840" y="1417320"/>
            <a:ext cx="2487168" cy="1554480"/>
          </a:xfrm>
          <a:prstGeom prst="roundRect">
            <a:avLst>
              <a:gd name="adj" fmla="val 5294"/>
            </a:avLst>
          </a:prstGeom>
          <a:solidFill>
            <a:srgbClr val="F4E6CE"/>
          </a:solidFill>
          <a:ln/>
        </p:spPr>
      </p:sp>
      <p:sp>
        <p:nvSpPr>
          <p:cNvPr id="1181283900" name="Text 6"/>
          <p:cNvSpPr txBox="1"/>
          <p:nvPr/>
        </p:nvSpPr>
        <p:spPr bwMode="auto">
          <a:xfrm>
            <a:off x="3474720" y="1581912"/>
            <a:ext cx="2121408" cy="411480"/>
          </a:xfrm>
          <a:prstGeom prst="rect">
            <a:avLst/>
          </a:prstGeom>
          <a:noFill/>
          <a:ln/>
        </p:spPr>
        <p:txBody>
          <a:bodyPr wrap="square" lIns="0" tIns="0" rIns="0" bIns="0" rtlCol="0" anchor="ctr"/>
          <a:lstStyle/>
          <a:p>
            <a:pPr marL="0" indent="0">
              <a:buNone/>
              <a:defRPr/>
            </a:pPr>
            <a:r>
              <a:rPr lang="en-US" sz="1150" b="1" spc="50">
                <a:solidFill>
                  <a:srgbClr val="B8792E"/>
                </a:solidFill>
                <a:latin typeface="Calibri"/>
                <a:ea typeface="Calibri"/>
                <a:cs typeface="Calibri"/>
              </a:rPr>
              <a:t>DEVELOPMENT REALITY</a:t>
            </a:r>
            <a:endParaRPr lang="en-US" sz="1150"/>
          </a:p>
        </p:txBody>
      </p:sp>
      <p:sp>
        <p:nvSpPr>
          <p:cNvPr id="1644097855" name="Text 7"/>
          <p:cNvSpPr txBox="1"/>
          <p:nvPr/>
        </p:nvSpPr>
        <p:spPr bwMode="auto">
          <a:xfrm>
            <a:off x="3474720" y="1984248"/>
            <a:ext cx="2121408" cy="914400"/>
          </a:xfrm>
          <a:prstGeom prst="rect">
            <a:avLst/>
          </a:prstGeom>
          <a:noFill/>
          <a:ln/>
        </p:spPr>
        <p:txBody>
          <a:bodyPr wrap="square" lIns="0" tIns="0" rIns="0" bIns="0" rtlCol="0" anchor="ctr"/>
          <a:lstStyle/>
          <a:p>
            <a:pPr marL="0" indent="0">
              <a:lnSpc>
                <a:spcPct val="114999"/>
              </a:lnSpc>
              <a:buNone/>
              <a:defRPr/>
            </a:pPr>
            <a:r>
              <a:rPr lang="en-US" sz="1200">
                <a:solidFill>
                  <a:srgbClr val="222B26"/>
                </a:solidFill>
                <a:latin typeface="Calibri"/>
                <a:ea typeface="Calibri"/>
                <a:cs typeface="Calibri"/>
              </a:rPr>
              <a:t>Large scope, backend complexity, and limited term time</a:t>
            </a:r>
            <a:endParaRPr lang="en-US" sz="1200"/>
          </a:p>
        </p:txBody>
      </p:sp>
      <p:pic>
        <p:nvPicPr>
          <p:cNvPr id="1027742390" name="Image 1" descr="/home/claude/work/krishibazar_deck_project/icons/arrowRight_amber.png"/>
          <p:cNvPicPr>
            <a:picLocks noChangeAspect="1"/>
          </p:cNvPicPr>
          <p:nvPr/>
        </p:nvPicPr>
        <p:blipFill rotWithShape="1">
          <a:blip r:embed="rId3"/>
          <a:stretch/>
        </p:blipFill>
        <p:spPr bwMode="auto">
          <a:xfrm>
            <a:off x="5797296" y="2084832"/>
            <a:ext cx="219456" cy="219456"/>
          </a:xfrm>
          <a:prstGeom prst="rect">
            <a:avLst/>
          </a:prstGeom>
        </p:spPr>
      </p:pic>
      <p:sp>
        <p:nvSpPr>
          <p:cNvPr id="384864755" name="Shape 8"/>
          <p:cNvSpPr/>
          <p:nvPr/>
        </p:nvSpPr>
        <p:spPr bwMode="auto">
          <a:xfrm>
            <a:off x="6035039" y="1417320"/>
            <a:ext cx="2487168" cy="1554480"/>
          </a:xfrm>
          <a:prstGeom prst="roundRect">
            <a:avLst>
              <a:gd name="adj" fmla="val 5294"/>
            </a:avLst>
          </a:prstGeom>
          <a:solidFill>
            <a:srgbClr val="EAF0E6"/>
          </a:solidFill>
          <a:ln/>
        </p:spPr>
      </p:sp>
      <p:sp>
        <p:nvSpPr>
          <p:cNvPr id="955801681" name="Text 9"/>
          <p:cNvSpPr txBox="1"/>
          <p:nvPr/>
        </p:nvSpPr>
        <p:spPr bwMode="auto">
          <a:xfrm>
            <a:off x="6217920" y="1581912"/>
            <a:ext cx="2121408" cy="411480"/>
          </a:xfrm>
          <a:prstGeom prst="rect">
            <a:avLst/>
          </a:prstGeom>
          <a:noFill/>
          <a:ln/>
        </p:spPr>
        <p:txBody>
          <a:bodyPr wrap="square" lIns="0" tIns="0" rIns="0" bIns="0" rtlCol="0" anchor="ctr"/>
          <a:lstStyle/>
          <a:p>
            <a:pPr marL="0" indent="0">
              <a:buNone/>
              <a:defRPr/>
            </a:pPr>
            <a:r>
              <a:rPr lang="en-US" sz="1150" b="1" spc="50">
                <a:solidFill>
                  <a:srgbClr val="1F4D3A"/>
                </a:solidFill>
                <a:latin typeface="Calibri"/>
                <a:ea typeface="Calibri"/>
                <a:cs typeface="Calibri"/>
              </a:rPr>
              <a:t>PRIORITIZATION</a:t>
            </a:r>
            <a:endParaRPr lang="en-US" sz="1150"/>
          </a:p>
        </p:txBody>
      </p:sp>
      <p:sp>
        <p:nvSpPr>
          <p:cNvPr id="932698065" name="Text 10"/>
          <p:cNvSpPr txBox="1"/>
          <p:nvPr/>
        </p:nvSpPr>
        <p:spPr bwMode="auto">
          <a:xfrm>
            <a:off x="6217920" y="1984248"/>
            <a:ext cx="2121408" cy="914400"/>
          </a:xfrm>
          <a:prstGeom prst="rect">
            <a:avLst/>
          </a:prstGeom>
          <a:noFill/>
          <a:ln/>
        </p:spPr>
        <p:txBody>
          <a:bodyPr wrap="square" lIns="0" tIns="0" rIns="0" bIns="0" rtlCol="0" anchor="ctr"/>
          <a:lstStyle/>
          <a:p>
            <a:pPr marL="0" indent="0">
              <a:lnSpc>
                <a:spcPct val="114999"/>
              </a:lnSpc>
              <a:buNone/>
              <a:defRPr/>
            </a:pPr>
            <a:r>
              <a:rPr lang="en-US" sz="1200">
                <a:solidFill>
                  <a:srgbClr val="222B26"/>
                </a:solidFill>
                <a:latin typeface="Calibri"/>
                <a:ea typeface="Calibri"/>
                <a:cs typeface="Calibri"/>
              </a:rPr>
              <a:t>Focus resources on the Farmer-side workflow end-to-end</a:t>
            </a:r>
            <a:endParaRPr lang="en-US" sz="1200"/>
          </a:p>
        </p:txBody>
      </p:sp>
      <p:pic>
        <p:nvPicPr>
          <p:cNvPr id="756947498" name="Image 2" descr="/home/claude/work/krishibazar_deck_project/icons/arrowRight_amber.png"/>
          <p:cNvPicPr>
            <a:picLocks noChangeAspect="1"/>
          </p:cNvPicPr>
          <p:nvPr/>
        </p:nvPicPr>
        <p:blipFill rotWithShape="1">
          <a:blip r:embed="rId3"/>
          <a:stretch/>
        </p:blipFill>
        <p:spPr bwMode="auto">
          <a:xfrm>
            <a:off x="8540496" y="2084832"/>
            <a:ext cx="219456" cy="219456"/>
          </a:xfrm>
          <a:prstGeom prst="rect">
            <a:avLst/>
          </a:prstGeom>
        </p:spPr>
      </p:pic>
      <p:sp>
        <p:nvSpPr>
          <p:cNvPr id="1092495598" name="Shape 11"/>
          <p:cNvSpPr/>
          <p:nvPr/>
        </p:nvSpPr>
        <p:spPr bwMode="auto">
          <a:xfrm>
            <a:off x="8778240" y="1417320"/>
            <a:ext cx="2487168" cy="1554480"/>
          </a:xfrm>
          <a:prstGeom prst="roundRect">
            <a:avLst>
              <a:gd name="adj" fmla="val 5294"/>
            </a:avLst>
          </a:prstGeom>
          <a:solidFill>
            <a:srgbClr val="1F4D3A"/>
          </a:solidFill>
          <a:ln/>
        </p:spPr>
      </p:sp>
      <p:sp>
        <p:nvSpPr>
          <p:cNvPr id="2617152" name="Text 12"/>
          <p:cNvSpPr txBox="1"/>
          <p:nvPr/>
        </p:nvSpPr>
        <p:spPr bwMode="auto">
          <a:xfrm>
            <a:off x="8961120" y="1581912"/>
            <a:ext cx="2121408" cy="411480"/>
          </a:xfrm>
          <a:prstGeom prst="rect">
            <a:avLst/>
          </a:prstGeom>
          <a:noFill/>
          <a:ln/>
        </p:spPr>
        <p:txBody>
          <a:bodyPr wrap="square" lIns="0" tIns="0" rIns="0" bIns="0" rtlCol="0" anchor="ctr"/>
          <a:lstStyle/>
          <a:p>
            <a:pPr marL="0" indent="0">
              <a:buNone/>
              <a:defRPr/>
            </a:pPr>
            <a:r>
              <a:rPr lang="en-US" sz="1150" b="1" spc="50">
                <a:solidFill>
                  <a:srgbClr val="B8792E"/>
                </a:solidFill>
                <a:latin typeface="Calibri"/>
                <a:ea typeface="Calibri"/>
                <a:cs typeface="Calibri"/>
              </a:rPr>
              <a:t>CURRENT RESULT</a:t>
            </a:r>
            <a:endParaRPr lang="en-US" sz="1150"/>
          </a:p>
        </p:txBody>
      </p:sp>
      <p:sp>
        <p:nvSpPr>
          <p:cNvPr id="469378909" name="Text 13"/>
          <p:cNvSpPr txBox="1"/>
          <p:nvPr/>
        </p:nvSpPr>
        <p:spPr bwMode="auto">
          <a:xfrm>
            <a:off x="8961120" y="1984248"/>
            <a:ext cx="2121408" cy="914400"/>
          </a:xfrm>
          <a:prstGeom prst="rect">
            <a:avLst/>
          </a:prstGeom>
          <a:noFill/>
          <a:ln/>
        </p:spPr>
        <p:txBody>
          <a:bodyPr wrap="square" lIns="0" tIns="0" rIns="0" bIns="0" rtlCol="0" anchor="ctr"/>
          <a:lstStyle/>
          <a:p>
            <a:pPr marL="0" indent="0">
              <a:lnSpc>
                <a:spcPct val="114999"/>
              </a:lnSpc>
              <a:buNone/>
              <a:defRPr/>
            </a:pPr>
            <a:r>
              <a:rPr lang="en-US" sz="1200">
                <a:solidFill>
                  <a:srgbClr val="FFFFFF"/>
                </a:solidFill>
                <a:latin typeface="Calibri"/>
                <a:ea typeface="Calibri"/>
                <a:cs typeface="Calibri"/>
              </a:rPr>
              <a:t>A substantial, working Farmer-side prototype</a:t>
            </a:r>
            <a:endParaRPr lang="en-US" sz="1200"/>
          </a:p>
        </p:txBody>
      </p:sp>
      <p:sp>
        <p:nvSpPr>
          <p:cNvPr id="758029797" name="Text 14"/>
          <p:cNvSpPr txBox="1"/>
          <p:nvPr/>
        </p:nvSpPr>
        <p:spPr bwMode="auto">
          <a:xfrm>
            <a:off x="548640" y="3200400"/>
            <a:ext cx="11064240" cy="365760"/>
          </a:xfrm>
          <a:prstGeom prst="rect">
            <a:avLst/>
          </a:prstGeom>
          <a:noFill/>
          <a:ln/>
        </p:spPr>
        <p:txBody>
          <a:bodyPr wrap="square" lIns="0" tIns="0" rIns="0" bIns="0" rtlCol="0" anchor="ctr"/>
          <a:lstStyle/>
          <a:p>
            <a:pPr marL="0" indent="0">
              <a:buNone/>
              <a:defRPr/>
            </a:pPr>
            <a:r>
              <a:rPr lang="en-US" sz="1250" i="1">
                <a:solidFill>
                  <a:srgbClr val="1F4D3A"/>
                </a:solidFill>
                <a:latin typeface="Calibri"/>
                <a:ea typeface="Calibri"/>
                <a:cs typeface="Calibri"/>
              </a:rPr>
              <a:t>This reflects deliberate scope management — not a shortfall. A smaller, complete system beats a large, unfinished one.</a:t>
            </a:r>
            <a:endParaRPr lang="en-US" sz="1250"/>
          </a:p>
        </p:txBody>
      </p:sp>
      <p:sp>
        <p:nvSpPr>
          <p:cNvPr id="1348599626" name="Shape 15"/>
          <p:cNvSpPr/>
          <p:nvPr/>
        </p:nvSpPr>
        <p:spPr bwMode="auto">
          <a:xfrm>
            <a:off x="548640" y="3794760"/>
            <a:ext cx="3611880" cy="2514600"/>
          </a:xfrm>
          <a:prstGeom prst="roundRect">
            <a:avLst>
              <a:gd name="adj" fmla="val 3273"/>
            </a:avLst>
          </a:prstGeom>
          <a:solidFill>
            <a:srgbClr val="EDF4EC"/>
          </a:solidFill>
          <a:ln w="12700">
            <a:solidFill>
              <a:srgbClr val="3E7A5C"/>
            </a:solidFill>
            <a:prstDash val="solid"/>
          </a:ln>
        </p:spPr>
      </p:sp>
      <p:sp>
        <p:nvSpPr>
          <p:cNvPr id="216175067" name="Shape 16"/>
          <p:cNvSpPr/>
          <p:nvPr/>
        </p:nvSpPr>
        <p:spPr bwMode="auto">
          <a:xfrm>
            <a:off x="777240" y="4023360"/>
            <a:ext cx="457200" cy="457200"/>
          </a:xfrm>
          <a:prstGeom prst="ellipse">
            <a:avLst/>
          </a:prstGeom>
          <a:solidFill>
            <a:srgbClr val="3E7A5C"/>
          </a:solidFill>
          <a:ln/>
        </p:spPr>
      </p:sp>
      <p:pic>
        <p:nvPicPr>
          <p:cNvPr id="1284441513" name="Image 3" descr="/home/claude/work/krishibazar_deck_project/icons/check_white.png"/>
          <p:cNvPicPr>
            <a:picLocks noChangeAspect="1"/>
          </p:cNvPicPr>
          <p:nvPr/>
        </p:nvPicPr>
        <p:blipFill rotWithShape="1">
          <a:blip r:embed="rId4"/>
          <a:stretch/>
        </p:blipFill>
        <p:spPr bwMode="auto">
          <a:xfrm>
            <a:off x="836676" y="4082796"/>
            <a:ext cx="338328" cy="338328"/>
          </a:xfrm>
          <a:prstGeom prst="rect">
            <a:avLst/>
          </a:prstGeom>
        </p:spPr>
      </p:pic>
      <p:sp>
        <p:nvSpPr>
          <p:cNvPr id="1226881630" name="Text 17"/>
          <p:cNvSpPr txBox="1"/>
          <p:nvPr/>
        </p:nvSpPr>
        <p:spPr bwMode="auto">
          <a:xfrm>
            <a:off x="1371600" y="4069080"/>
            <a:ext cx="2651760" cy="320040"/>
          </a:xfrm>
          <a:prstGeom prst="rect">
            <a:avLst/>
          </a:prstGeom>
          <a:noFill/>
          <a:ln/>
        </p:spPr>
        <p:txBody>
          <a:bodyPr wrap="square" lIns="0" tIns="0" rIns="0" bIns="0" rtlCol="0" anchor="ctr"/>
          <a:lstStyle/>
          <a:p>
            <a:pPr marL="0" indent="0">
              <a:buNone/>
              <a:defRPr/>
            </a:pPr>
            <a:r>
              <a:rPr lang="en-US" sz="1200" b="1">
                <a:solidFill>
                  <a:srgbClr val="3E7A5C"/>
                </a:solidFill>
                <a:latin typeface="Calibri"/>
                <a:ea typeface="Calibri"/>
                <a:cs typeface="Calibri"/>
              </a:rPr>
              <a:t>IMPLEMENTED</a:t>
            </a:r>
            <a:endParaRPr lang="en-US" sz="1200"/>
          </a:p>
        </p:txBody>
      </p:sp>
      <p:sp>
        <p:nvSpPr>
          <p:cNvPr id="1960031016" name="Text 18"/>
          <p:cNvSpPr txBox="1"/>
          <p:nvPr/>
        </p:nvSpPr>
        <p:spPr bwMode="auto">
          <a:xfrm>
            <a:off x="777240" y="4663440"/>
            <a:ext cx="3108960" cy="457200"/>
          </a:xfrm>
          <a:prstGeom prst="rect">
            <a:avLst/>
          </a:prstGeom>
          <a:noFill/>
          <a:ln/>
        </p:spPr>
        <p:txBody>
          <a:bodyPr wrap="square" lIns="0" tIns="0" rIns="0" bIns="0" rtlCol="0" anchor="ctr"/>
          <a:lstStyle/>
          <a:p>
            <a:pPr marL="0" indent="0">
              <a:buNone/>
              <a:defRPr/>
            </a:pPr>
            <a:r>
              <a:rPr lang="en-US" sz="2200" b="1">
                <a:solidFill>
                  <a:srgbClr val="1F4D3A"/>
                </a:solidFill>
                <a:latin typeface="Cambria"/>
                <a:ea typeface="Cambria"/>
                <a:cs typeface="Cambria"/>
              </a:rPr>
              <a:t>Farmer</a:t>
            </a:r>
            <a:endParaRPr lang="en-US" sz="2200"/>
          </a:p>
        </p:txBody>
      </p:sp>
      <p:sp>
        <p:nvSpPr>
          <p:cNvPr id="591830735" name="Text 19"/>
          <p:cNvSpPr txBox="1"/>
          <p:nvPr/>
        </p:nvSpPr>
        <p:spPr bwMode="auto">
          <a:xfrm>
            <a:off x="777240" y="5166360"/>
            <a:ext cx="3108960" cy="1005840"/>
          </a:xfrm>
          <a:prstGeom prst="rect">
            <a:avLst/>
          </a:prstGeom>
          <a:noFill/>
          <a:ln/>
        </p:spPr>
        <p:txBody>
          <a:bodyPr wrap="square" lIns="0" tIns="0" rIns="0" bIns="0" rtlCol="0" anchor="ctr"/>
          <a:lstStyle/>
          <a:p>
            <a:pPr marL="0" indent="0">
              <a:lnSpc>
                <a:spcPct val="114999"/>
              </a:lnSpc>
              <a:buNone/>
              <a:defRPr/>
            </a:pPr>
            <a:r>
              <a:rPr lang="en-US" sz="1100">
                <a:solidFill>
                  <a:srgbClr val="222B26"/>
                </a:solidFill>
                <a:latin typeface="Calibri"/>
                <a:ea typeface="Calibri"/>
                <a:cs typeface="Calibri"/>
              </a:rPr>
              <a:t>Full workflow: registration, AI decision support, monitoring, planning, marketplace and orders.</a:t>
            </a:r>
            <a:endParaRPr lang="en-US" sz="1100"/>
          </a:p>
        </p:txBody>
      </p:sp>
      <p:sp>
        <p:nvSpPr>
          <p:cNvPr id="1177217987" name="Shape 20"/>
          <p:cNvSpPr/>
          <p:nvPr/>
        </p:nvSpPr>
        <p:spPr bwMode="auto">
          <a:xfrm>
            <a:off x="4343400" y="3794760"/>
            <a:ext cx="3657600" cy="2514600"/>
          </a:xfrm>
          <a:prstGeom prst="roundRect">
            <a:avLst>
              <a:gd name="adj" fmla="val 3273"/>
            </a:avLst>
          </a:prstGeom>
          <a:solidFill>
            <a:srgbClr val="F7F7F6"/>
          </a:solidFill>
          <a:ln w="12700">
            <a:solidFill>
              <a:srgbClr val="DCE3D8"/>
            </a:solidFill>
            <a:prstDash val="solid"/>
          </a:ln>
        </p:spPr>
      </p:sp>
      <p:sp>
        <p:nvSpPr>
          <p:cNvPr id="194611236" name="Shape 21"/>
          <p:cNvSpPr/>
          <p:nvPr/>
        </p:nvSpPr>
        <p:spPr bwMode="auto">
          <a:xfrm>
            <a:off x="4572000" y="4023360"/>
            <a:ext cx="457200" cy="457200"/>
          </a:xfrm>
          <a:prstGeom prst="ellipse">
            <a:avLst/>
          </a:prstGeom>
          <a:solidFill>
            <a:srgbClr val="5C6B62"/>
          </a:solidFill>
          <a:ln/>
        </p:spPr>
      </p:sp>
      <p:pic>
        <p:nvPicPr>
          <p:cNvPr id="234445567" name="Image 4" descr="/home/claude/work/krishibazar_deck_project/icons/x_white.png"/>
          <p:cNvPicPr>
            <a:picLocks noChangeAspect="1"/>
          </p:cNvPicPr>
          <p:nvPr/>
        </p:nvPicPr>
        <p:blipFill rotWithShape="1">
          <a:blip r:embed="rId5"/>
          <a:stretch/>
        </p:blipFill>
        <p:spPr bwMode="auto">
          <a:xfrm>
            <a:off x="4631436" y="4082796"/>
            <a:ext cx="338328" cy="338328"/>
          </a:xfrm>
          <a:prstGeom prst="rect">
            <a:avLst/>
          </a:prstGeom>
        </p:spPr>
      </p:pic>
      <p:sp>
        <p:nvSpPr>
          <p:cNvPr id="771321098" name="Text 22"/>
          <p:cNvSpPr txBox="1"/>
          <p:nvPr/>
        </p:nvSpPr>
        <p:spPr bwMode="auto">
          <a:xfrm>
            <a:off x="5166360" y="4069080"/>
            <a:ext cx="2743200" cy="320040"/>
          </a:xfrm>
          <a:prstGeom prst="rect">
            <a:avLst/>
          </a:prstGeom>
          <a:noFill/>
          <a:ln/>
        </p:spPr>
        <p:txBody>
          <a:bodyPr wrap="square" lIns="0" tIns="0" rIns="0" bIns="0" rtlCol="0" anchor="ctr"/>
          <a:lstStyle/>
          <a:p>
            <a:pPr marL="0" indent="0">
              <a:buNone/>
              <a:defRPr/>
            </a:pPr>
            <a:r>
              <a:rPr lang="en-US" sz="1200" b="1">
                <a:solidFill>
                  <a:srgbClr val="5C6B62"/>
                </a:solidFill>
                <a:latin typeface="Calibri"/>
                <a:ea typeface="Calibri"/>
                <a:cs typeface="Calibri"/>
              </a:rPr>
              <a:t>NOT YET IMPLEMENTED</a:t>
            </a:r>
            <a:endParaRPr lang="en-US" sz="1200"/>
          </a:p>
        </p:txBody>
      </p:sp>
      <p:sp>
        <p:nvSpPr>
          <p:cNvPr id="521775321" name="Text 23"/>
          <p:cNvSpPr txBox="1"/>
          <p:nvPr/>
        </p:nvSpPr>
        <p:spPr bwMode="auto">
          <a:xfrm>
            <a:off x="4572000" y="4636008"/>
            <a:ext cx="3291840" cy="292608"/>
          </a:xfrm>
          <a:prstGeom prst="rect">
            <a:avLst/>
          </a:prstGeom>
          <a:noFill/>
          <a:ln/>
        </p:spPr>
        <p:txBody>
          <a:bodyPr wrap="square" lIns="0" tIns="0" rIns="0" bIns="0" rtlCol="0" anchor="ctr"/>
          <a:lstStyle/>
          <a:p>
            <a:pPr marL="0" indent="0">
              <a:buNone/>
              <a:defRPr/>
            </a:pPr>
            <a:r>
              <a:rPr lang="en-US" sz="1150">
                <a:solidFill>
                  <a:srgbClr val="222B26"/>
                </a:solidFill>
                <a:latin typeface="Calibri"/>
                <a:ea typeface="Calibri"/>
                <a:cs typeface="Calibri"/>
              </a:rPr>
              <a:t>•  Consumer / Buyer</a:t>
            </a:r>
            <a:endParaRPr lang="en-US" sz="1150"/>
          </a:p>
        </p:txBody>
      </p:sp>
      <p:sp>
        <p:nvSpPr>
          <p:cNvPr id="1999569597" name="Text 24"/>
          <p:cNvSpPr txBox="1"/>
          <p:nvPr/>
        </p:nvSpPr>
        <p:spPr bwMode="auto">
          <a:xfrm>
            <a:off x="4572000" y="4956048"/>
            <a:ext cx="3291840" cy="292608"/>
          </a:xfrm>
          <a:prstGeom prst="rect">
            <a:avLst/>
          </a:prstGeom>
          <a:noFill/>
          <a:ln/>
        </p:spPr>
        <p:txBody>
          <a:bodyPr wrap="square" lIns="0" tIns="0" rIns="0" bIns="0" rtlCol="0" anchor="ctr"/>
          <a:lstStyle/>
          <a:p>
            <a:pPr marL="0" indent="0">
              <a:buNone/>
              <a:defRPr/>
            </a:pPr>
            <a:r>
              <a:rPr lang="en-US" sz="1150">
                <a:solidFill>
                  <a:srgbClr val="222B26"/>
                </a:solidFill>
                <a:latin typeface="Calibri"/>
                <a:ea typeface="Calibri"/>
                <a:cs typeface="Calibri"/>
              </a:rPr>
              <a:t>•  Government Officer</a:t>
            </a:r>
            <a:endParaRPr lang="en-US" sz="1150"/>
          </a:p>
        </p:txBody>
      </p:sp>
      <p:sp>
        <p:nvSpPr>
          <p:cNvPr id="930612899" name="Text 25"/>
          <p:cNvSpPr txBox="1"/>
          <p:nvPr/>
        </p:nvSpPr>
        <p:spPr bwMode="auto">
          <a:xfrm>
            <a:off x="4572000" y="5276088"/>
            <a:ext cx="3291840" cy="292608"/>
          </a:xfrm>
          <a:prstGeom prst="rect">
            <a:avLst/>
          </a:prstGeom>
          <a:noFill/>
          <a:ln/>
        </p:spPr>
        <p:txBody>
          <a:bodyPr wrap="square" lIns="0" tIns="0" rIns="0" bIns="0" rtlCol="0" anchor="ctr"/>
          <a:lstStyle/>
          <a:p>
            <a:pPr marL="0" indent="0">
              <a:buNone/>
              <a:defRPr/>
            </a:pPr>
            <a:r>
              <a:rPr lang="en-US" sz="1150">
                <a:solidFill>
                  <a:srgbClr val="222B26"/>
                </a:solidFill>
                <a:latin typeface="Calibri"/>
                <a:ea typeface="Calibri"/>
                <a:cs typeface="Calibri"/>
              </a:rPr>
              <a:t>•  Investor</a:t>
            </a:r>
            <a:endParaRPr lang="en-US" sz="1150"/>
          </a:p>
        </p:txBody>
      </p:sp>
      <p:sp>
        <p:nvSpPr>
          <p:cNvPr id="645628523" name="Text 26"/>
          <p:cNvSpPr txBox="1"/>
          <p:nvPr/>
        </p:nvSpPr>
        <p:spPr bwMode="auto">
          <a:xfrm>
            <a:off x="4572000" y="5596128"/>
            <a:ext cx="3291840" cy="292608"/>
          </a:xfrm>
          <a:prstGeom prst="rect">
            <a:avLst/>
          </a:prstGeom>
          <a:noFill/>
          <a:ln/>
        </p:spPr>
        <p:txBody>
          <a:bodyPr wrap="square" lIns="0" tIns="0" rIns="0" bIns="0" rtlCol="0" anchor="ctr"/>
          <a:lstStyle/>
          <a:p>
            <a:pPr marL="0" indent="0">
              <a:buNone/>
              <a:defRPr/>
            </a:pPr>
            <a:r>
              <a:rPr lang="en-US" sz="1150">
                <a:solidFill>
                  <a:srgbClr val="222B26"/>
                </a:solidFill>
                <a:latin typeface="Calibri"/>
                <a:ea typeface="Calibri"/>
                <a:cs typeface="Calibri"/>
              </a:rPr>
              <a:t>•  Reseller / Wholesaler</a:t>
            </a:r>
            <a:endParaRPr lang="en-US" sz="1150"/>
          </a:p>
        </p:txBody>
      </p:sp>
      <p:sp>
        <p:nvSpPr>
          <p:cNvPr id="642315079" name="Text 27"/>
          <p:cNvSpPr txBox="1"/>
          <p:nvPr/>
        </p:nvSpPr>
        <p:spPr bwMode="auto">
          <a:xfrm>
            <a:off x="4572000" y="5916168"/>
            <a:ext cx="3291840" cy="292608"/>
          </a:xfrm>
          <a:prstGeom prst="rect">
            <a:avLst/>
          </a:prstGeom>
          <a:noFill/>
          <a:ln/>
        </p:spPr>
        <p:txBody>
          <a:bodyPr wrap="square" lIns="0" tIns="0" rIns="0" bIns="0" rtlCol="0" anchor="ctr"/>
          <a:lstStyle/>
          <a:p>
            <a:pPr marL="0" indent="0">
              <a:buNone/>
              <a:defRPr/>
            </a:pPr>
            <a:r>
              <a:rPr lang="en-US" sz="1150">
                <a:solidFill>
                  <a:srgbClr val="222B26"/>
                </a:solidFill>
                <a:latin typeface="Calibri"/>
                <a:ea typeface="Calibri"/>
                <a:cs typeface="Calibri"/>
              </a:rPr>
              <a:t>•  Administrator</a:t>
            </a:r>
            <a:endParaRPr lang="en-US" sz="1150"/>
          </a:p>
        </p:txBody>
      </p:sp>
      <p:sp>
        <p:nvSpPr>
          <p:cNvPr id="1189779701" name="Shape 28"/>
          <p:cNvSpPr/>
          <p:nvPr/>
        </p:nvSpPr>
        <p:spPr bwMode="auto">
          <a:xfrm>
            <a:off x="8138160" y="3794760"/>
            <a:ext cx="3520440" cy="2514600"/>
          </a:xfrm>
          <a:prstGeom prst="roundRect">
            <a:avLst>
              <a:gd name="adj" fmla="val 3273"/>
            </a:avLst>
          </a:prstGeom>
          <a:solidFill>
            <a:srgbClr val="F6E2DC"/>
          </a:solidFill>
          <a:ln w="12700">
            <a:solidFill>
              <a:srgbClr val="B3492F"/>
            </a:solidFill>
            <a:prstDash val="solid"/>
          </a:ln>
        </p:spPr>
      </p:sp>
      <p:sp>
        <p:nvSpPr>
          <p:cNvPr id="336154038" name="Shape 29"/>
          <p:cNvSpPr/>
          <p:nvPr/>
        </p:nvSpPr>
        <p:spPr bwMode="auto">
          <a:xfrm>
            <a:off x="8366760" y="4023360"/>
            <a:ext cx="457200" cy="457200"/>
          </a:xfrm>
          <a:prstGeom prst="ellipse">
            <a:avLst/>
          </a:prstGeom>
          <a:solidFill>
            <a:srgbClr val="B3492F"/>
          </a:solidFill>
          <a:ln/>
        </p:spPr>
      </p:sp>
      <p:pic>
        <p:nvPicPr>
          <p:cNvPr id="653633383" name="Image 5" descr="/home/claude/work/krishibazar_deck_project/icons/database_white.png"/>
          <p:cNvPicPr>
            <a:picLocks noChangeAspect="1"/>
          </p:cNvPicPr>
          <p:nvPr/>
        </p:nvPicPr>
        <p:blipFill rotWithShape="1">
          <a:blip r:embed="rId6"/>
          <a:stretch/>
        </p:blipFill>
        <p:spPr bwMode="auto">
          <a:xfrm>
            <a:off x="8426196" y="4082796"/>
            <a:ext cx="338328" cy="338328"/>
          </a:xfrm>
          <a:prstGeom prst="rect">
            <a:avLst/>
          </a:prstGeom>
        </p:spPr>
      </p:pic>
      <p:sp>
        <p:nvSpPr>
          <p:cNvPr id="1626449560" name="Text 30"/>
          <p:cNvSpPr txBox="1"/>
          <p:nvPr/>
        </p:nvSpPr>
        <p:spPr bwMode="auto">
          <a:xfrm>
            <a:off x="8961120" y="4069080"/>
            <a:ext cx="2651760" cy="320040"/>
          </a:xfrm>
          <a:prstGeom prst="rect">
            <a:avLst/>
          </a:prstGeom>
          <a:noFill/>
          <a:ln/>
        </p:spPr>
        <p:txBody>
          <a:bodyPr wrap="square" lIns="0" tIns="0" rIns="0" bIns="0" rtlCol="0" anchor="ctr"/>
          <a:lstStyle/>
          <a:p>
            <a:pPr marL="0" indent="0">
              <a:buNone/>
              <a:defRPr/>
            </a:pPr>
            <a:r>
              <a:rPr lang="en-US" sz="1200" b="1">
                <a:solidFill>
                  <a:srgbClr val="B3492F"/>
                </a:solidFill>
                <a:latin typeface="Calibri"/>
                <a:ea typeface="Calibri"/>
                <a:cs typeface="Calibri"/>
              </a:rPr>
              <a:t>BACKEND</a:t>
            </a:r>
            <a:endParaRPr lang="en-US" sz="1200"/>
          </a:p>
        </p:txBody>
      </p:sp>
      <p:sp>
        <p:nvSpPr>
          <p:cNvPr id="2140285984" name="Text 31"/>
          <p:cNvSpPr txBox="1"/>
          <p:nvPr/>
        </p:nvSpPr>
        <p:spPr bwMode="auto">
          <a:xfrm>
            <a:off x="8366760" y="4663440"/>
            <a:ext cx="3108960" cy="411480"/>
          </a:xfrm>
          <a:prstGeom prst="rect">
            <a:avLst/>
          </a:prstGeom>
          <a:noFill/>
          <a:ln/>
        </p:spPr>
        <p:txBody>
          <a:bodyPr wrap="square" lIns="0" tIns="0" rIns="0" bIns="0" rtlCol="0" anchor="ctr"/>
          <a:lstStyle/>
          <a:p>
            <a:pPr marL="0" indent="0">
              <a:buNone/>
              <a:defRPr/>
            </a:pPr>
            <a:r>
              <a:rPr lang="en-US" sz="1800" b="1">
                <a:solidFill>
                  <a:srgbClr val="B3492F"/>
                </a:solidFill>
                <a:latin typeface="Cambria"/>
                <a:ea typeface="Cambria"/>
                <a:cs typeface="Cambria"/>
              </a:rPr>
              <a:t>Not completed</a:t>
            </a:r>
            <a:endParaRPr lang="en-US" sz="1800"/>
          </a:p>
        </p:txBody>
      </p:sp>
      <p:sp>
        <p:nvSpPr>
          <p:cNvPr id="760007295" name="Text 32"/>
          <p:cNvSpPr txBox="1"/>
          <p:nvPr/>
        </p:nvSpPr>
        <p:spPr bwMode="auto">
          <a:xfrm>
            <a:off x="8366760" y="5120640"/>
            <a:ext cx="3108960" cy="1097280"/>
          </a:xfrm>
          <a:prstGeom prst="rect">
            <a:avLst/>
          </a:prstGeom>
          <a:noFill/>
          <a:ln/>
        </p:spPr>
        <p:txBody>
          <a:bodyPr wrap="square" lIns="0" tIns="0" rIns="0" bIns="0" rtlCol="0" anchor="ctr"/>
          <a:lstStyle/>
          <a:p>
            <a:pPr marL="0" indent="0">
              <a:lnSpc>
                <a:spcPct val="114999"/>
              </a:lnSpc>
              <a:buNone/>
              <a:defRPr/>
            </a:pPr>
            <a:r>
              <a:rPr lang="en-US" sz="1100">
                <a:solidFill>
                  <a:srgbClr val="222B26"/>
                </a:solidFill>
                <a:latin typeface="Calibri"/>
                <a:ea typeface="Calibri"/>
                <a:cs typeface="Calibri"/>
              </a:rPr>
              <a:t>No persistent database or full server layer. A thin API proxy handles Gemini calls only (see Slide 6).</a:t>
            </a:r>
            <a:endParaRPr lang="en-US" sz="1100"/>
          </a:p>
        </p:txBody>
      </p:sp>
      <p:sp>
        <p:nvSpPr>
          <p:cNvPr id="2082276165" name="Text 33"/>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1742632352" name="Text 34"/>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684451928"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PLANNING &amp; SCHEDULING</a:t>
            </a:r>
            <a:endParaRPr lang="en-US" sz="1150"/>
          </a:p>
        </p:txBody>
      </p:sp>
      <p:sp>
        <p:nvSpPr>
          <p:cNvPr id="1893663496"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Updated Project Timeline</a:t>
            </a:r>
            <a:endParaRPr lang="en-US" sz="2800"/>
          </a:p>
        </p:txBody>
      </p:sp>
      <p:graphicFrame>
        <p:nvGraphicFramePr>
          <p:cNvPr id="1519068190" name="Chart 0" descr=""/>
          <p:cNvGraphicFramePr>
            <a:graphicFrameLocks xmlns:a="http://schemas.openxmlformats.org/drawingml/2006/main"/>
          </p:cNvGraphicFramePr>
          <p:nvPr/>
        </p:nvGraphicFramePr>
        <p:xfrm rot="0">
          <a:off x="457200" y="1325880"/>
          <a:ext cx="1129284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729436188" name="Text 2"/>
          <p:cNvSpPr txBox="1"/>
          <p:nvPr/>
        </p:nvSpPr>
        <p:spPr bwMode="auto">
          <a:xfrm>
            <a:off x="548640" y="6053328"/>
            <a:ext cx="11064240" cy="320040"/>
          </a:xfrm>
          <a:prstGeom prst="rect">
            <a:avLst/>
          </a:prstGeom>
          <a:noFill/>
          <a:ln/>
        </p:spPr>
        <p:txBody>
          <a:bodyPr wrap="square" lIns="0" tIns="0" rIns="0" bIns="0" rtlCol="0" anchor="ctr"/>
          <a:lstStyle/>
          <a:p>
            <a:pPr marL="0" indent="0">
              <a:buNone/>
              <a:defRPr/>
            </a:pPr>
            <a:r>
              <a:rPr lang="en-US" sz="1050" i="1">
                <a:solidFill>
                  <a:srgbClr val="5C6B62"/>
                </a:solidFill>
                <a:latin typeface="Calibri"/>
                <a:ea typeface="Calibri"/>
                <a:cs typeface="Calibri"/>
              </a:rPr>
              <a:t>Phases shown in relative project weeks (1–16), not calendar dates — adjust to exact dates as needed.</a:t>
            </a:r>
            <a:endParaRPr lang="en-US" sz="1050"/>
          </a:p>
        </p:txBody>
      </p:sp>
      <p:sp>
        <p:nvSpPr>
          <p:cNvPr id="53372490" name="Text 3"/>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817632418" name="Text 4"/>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679542438"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IMPLEMENTED FARMER FEATURES</a:t>
            </a:r>
            <a:endParaRPr lang="en-US" sz="1150"/>
          </a:p>
        </p:txBody>
      </p:sp>
      <p:sp>
        <p:nvSpPr>
          <p:cNvPr id="675232320"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A Complete Farmer-Side Workflow</a:t>
            </a:r>
            <a:endParaRPr lang="en-US" sz="2800"/>
          </a:p>
        </p:txBody>
      </p:sp>
      <p:sp>
        <p:nvSpPr>
          <p:cNvPr id="798751849" name="Shape 2"/>
          <p:cNvSpPr/>
          <p:nvPr/>
        </p:nvSpPr>
        <p:spPr bwMode="auto">
          <a:xfrm>
            <a:off x="548640" y="1417320"/>
            <a:ext cx="3517392" cy="2331720"/>
          </a:xfrm>
          <a:prstGeom prst="roundRect">
            <a:avLst>
              <a:gd name="adj" fmla="val 3529"/>
            </a:avLst>
          </a:prstGeom>
          <a:solidFill>
            <a:srgbClr val="EAF0E6"/>
          </a:solidFill>
          <a:ln/>
        </p:spPr>
      </p:sp>
      <p:sp>
        <p:nvSpPr>
          <p:cNvPr id="2089265765" name="Shape 3"/>
          <p:cNvSpPr/>
          <p:nvPr/>
        </p:nvSpPr>
        <p:spPr bwMode="auto">
          <a:xfrm>
            <a:off x="749808" y="1618488"/>
            <a:ext cx="457200" cy="457200"/>
          </a:xfrm>
          <a:prstGeom prst="ellipse">
            <a:avLst/>
          </a:prstGeom>
          <a:solidFill>
            <a:srgbClr val="1F4D3A"/>
          </a:solidFill>
          <a:ln/>
        </p:spPr>
      </p:sp>
      <p:pic>
        <p:nvPicPr>
          <p:cNvPr id="872748308" name="Image 0" descr="/home/claude/work/krishibazar_deck_project/icons/layers_white.png"/>
          <p:cNvPicPr>
            <a:picLocks noChangeAspect="1"/>
          </p:cNvPicPr>
          <p:nvPr/>
        </p:nvPicPr>
        <p:blipFill rotWithShape="1">
          <a:blip r:embed="rId3"/>
          <a:stretch/>
        </p:blipFill>
        <p:spPr bwMode="auto">
          <a:xfrm>
            <a:off x="809244" y="1677924"/>
            <a:ext cx="338328" cy="338328"/>
          </a:xfrm>
          <a:prstGeom prst="rect">
            <a:avLst/>
          </a:prstGeom>
        </p:spPr>
      </p:pic>
      <p:sp>
        <p:nvSpPr>
          <p:cNvPr id="528110738" name="Text 4"/>
          <p:cNvSpPr txBox="1"/>
          <p:nvPr/>
        </p:nvSpPr>
        <p:spPr bwMode="auto">
          <a:xfrm>
            <a:off x="1325880" y="1664208"/>
            <a:ext cx="2602992" cy="38404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Farm Management</a:t>
            </a:r>
            <a:endParaRPr lang="en-US" sz="1300"/>
          </a:p>
        </p:txBody>
      </p:sp>
      <p:sp>
        <p:nvSpPr>
          <p:cNvPr id="621975817" name="Text 5"/>
          <p:cNvSpPr txBox="1"/>
          <p:nvPr/>
        </p:nvSpPr>
        <p:spPr bwMode="auto">
          <a:xfrm>
            <a:off x="777240" y="2167128"/>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Smart Farm Registration</a:t>
            </a:r>
            <a:endParaRPr lang="en-US" sz="1100"/>
          </a:p>
        </p:txBody>
      </p:sp>
      <p:sp>
        <p:nvSpPr>
          <p:cNvPr id="771877730" name="Text 6"/>
          <p:cNvSpPr txBox="1"/>
          <p:nvPr/>
        </p:nvSpPr>
        <p:spPr bwMode="auto">
          <a:xfrm>
            <a:off x="777240" y="2459735"/>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Farm Portfolio</a:t>
            </a:r>
            <a:endParaRPr lang="en-US" sz="1100"/>
          </a:p>
        </p:txBody>
      </p:sp>
      <p:sp>
        <p:nvSpPr>
          <p:cNvPr id="1899095878" name="Text 7"/>
          <p:cNvSpPr txBox="1"/>
          <p:nvPr/>
        </p:nvSpPr>
        <p:spPr bwMode="auto">
          <a:xfrm>
            <a:off x="777240" y="2752343"/>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Crop Tracking</a:t>
            </a:r>
            <a:endParaRPr lang="en-US" sz="1100"/>
          </a:p>
        </p:txBody>
      </p:sp>
      <p:sp>
        <p:nvSpPr>
          <p:cNvPr id="2000672498" name="Text 8"/>
          <p:cNvSpPr txBox="1"/>
          <p:nvPr/>
        </p:nvSpPr>
        <p:spPr bwMode="auto">
          <a:xfrm>
            <a:off x="777240" y="3044952"/>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Crop Lifecycle</a:t>
            </a:r>
            <a:endParaRPr lang="en-US" sz="1100"/>
          </a:p>
        </p:txBody>
      </p:sp>
      <p:sp>
        <p:nvSpPr>
          <p:cNvPr id="1616708953" name="Shape 9"/>
          <p:cNvSpPr/>
          <p:nvPr/>
        </p:nvSpPr>
        <p:spPr bwMode="auto">
          <a:xfrm>
            <a:off x="4322064" y="1417320"/>
            <a:ext cx="3517392" cy="2331720"/>
          </a:xfrm>
          <a:prstGeom prst="roundRect">
            <a:avLst>
              <a:gd name="adj" fmla="val 3529"/>
            </a:avLst>
          </a:prstGeom>
          <a:solidFill>
            <a:srgbClr val="EAF0E6"/>
          </a:solidFill>
          <a:ln/>
        </p:spPr>
      </p:sp>
      <p:sp>
        <p:nvSpPr>
          <p:cNvPr id="1832920483" name="Shape 10"/>
          <p:cNvSpPr/>
          <p:nvPr/>
        </p:nvSpPr>
        <p:spPr bwMode="auto">
          <a:xfrm>
            <a:off x="4523232" y="1618488"/>
            <a:ext cx="457200" cy="457200"/>
          </a:xfrm>
          <a:prstGeom prst="ellipse">
            <a:avLst/>
          </a:prstGeom>
          <a:solidFill>
            <a:srgbClr val="1F4D3A"/>
          </a:solidFill>
          <a:ln/>
        </p:spPr>
      </p:sp>
      <p:pic>
        <p:nvPicPr>
          <p:cNvPr id="796991921" name="Image 1" descr="/home/claude/work/krishibazar_deck_project/icons/brain_white.png"/>
          <p:cNvPicPr>
            <a:picLocks noChangeAspect="1"/>
          </p:cNvPicPr>
          <p:nvPr/>
        </p:nvPicPr>
        <p:blipFill rotWithShape="1">
          <a:blip r:embed="rId4"/>
          <a:stretch/>
        </p:blipFill>
        <p:spPr bwMode="auto">
          <a:xfrm>
            <a:off x="4582668" y="1677924"/>
            <a:ext cx="338328" cy="338328"/>
          </a:xfrm>
          <a:prstGeom prst="rect">
            <a:avLst/>
          </a:prstGeom>
        </p:spPr>
      </p:pic>
      <p:sp>
        <p:nvSpPr>
          <p:cNvPr id="1721953368" name="Text 11"/>
          <p:cNvSpPr txBox="1"/>
          <p:nvPr/>
        </p:nvSpPr>
        <p:spPr bwMode="auto">
          <a:xfrm>
            <a:off x="5099304" y="1664208"/>
            <a:ext cx="2602992" cy="38404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AI Decision Support</a:t>
            </a:r>
            <a:endParaRPr lang="en-US" sz="1300"/>
          </a:p>
        </p:txBody>
      </p:sp>
      <p:sp>
        <p:nvSpPr>
          <p:cNvPr id="1249083886" name="Text 12"/>
          <p:cNvSpPr txBox="1"/>
          <p:nvPr/>
        </p:nvSpPr>
        <p:spPr bwMode="auto">
          <a:xfrm>
            <a:off x="4550664" y="2167128"/>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Crop Recommendation</a:t>
            </a:r>
            <a:endParaRPr lang="en-US" sz="1100"/>
          </a:p>
        </p:txBody>
      </p:sp>
      <p:sp>
        <p:nvSpPr>
          <p:cNvPr id="1746795594" name="Text 13"/>
          <p:cNvSpPr txBox="1"/>
          <p:nvPr/>
        </p:nvSpPr>
        <p:spPr bwMode="auto">
          <a:xfrm>
            <a:off x="4550664" y="2459735"/>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AI Farm Intelligence Center</a:t>
            </a:r>
            <a:endParaRPr lang="en-US" sz="1100"/>
          </a:p>
        </p:txBody>
      </p:sp>
      <p:sp>
        <p:nvSpPr>
          <p:cNvPr id="1921486452" name="Text 14"/>
          <p:cNvSpPr txBox="1"/>
          <p:nvPr/>
        </p:nvSpPr>
        <p:spPr bwMode="auto">
          <a:xfrm>
            <a:off x="4550664" y="2752343"/>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Disease Analysis</a:t>
            </a:r>
            <a:endParaRPr lang="en-US" sz="1100"/>
          </a:p>
        </p:txBody>
      </p:sp>
      <p:sp>
        <p:nvSpPr>
          <p:cNvPr id="1016187517" name="Text 15"/>
          <p:cNvSpPr txBox="1"/>
          <p:nvPr/>
        </p:nvSpPr>
        <p:spPr bwMode="auto">
          <a:xfrm>
            <a:off x="4550664" y="3044952"/>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Pest / Fertilizer / Irrigation</a:t>
            </a:r>
            <a:endParaRPr lang="en-US" sz="1100"/>
          </a:p>
        </p:txBody>
      </p:sp>
      <p:sp>
        <p:nvSpPr>
          <p:cNvPr id="1184078012" name="Text 16"/>
          <p:cNvSpPr txBox="1"/>
          <p:nvPr/>
        </p:nvSpPr>
        <p:spPr bwMode="auto">
          <a:xfrm>
            <a:off x="4550664" y="3337560"/>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Yield, Profit &amp; Market Analysis</a:t>
            </a:r>
            <a:endParaRPr lang="en-US" sz="1100"/>
          </a:p>
        </p:txBody>
      </p:sp>
      <p:sp>
        <p:nvSpPr>
          <p:cNvPr id="1824895578" name="Shape 17"/>
          <p:cNvSpPr/>
          <p:nvPr/>
        </p:nvSpPr>
        <p:spPr bwMode="auto">
          <a:xfrm>
            <a:off x="8095488" y="1417320"/>
            <a:ext cx="3517392" cy="2331720"/>
          </a:xfrm>
          <a:prstGeom prst="roundRect">
            <a:avLst>
              <a:gd name="adj" fmla="val 3529"/>
            </a:avLst>
          </a:prstGeom>
          <a:solidFill>
            <a:srgbClr val="EAF0E6"/>
          </a:solidFill>
          <a:ln/>
        </p:spPr>
      </p:sp>
      <p:sp>
        <p:nvSpPr>
          <p:cNvPr id="1493580226" name="Shape 18"/>
          <p:cNvSpPr/>
          <p:nvPr/>
        </p:nvSpPr>
        <p:spPr bwMode="auto">
          <a:xfrm>
            <a:off x="8296656" y="1618488"/>
            <a:ext cx="457200" cy="457200"/>
          </a:xfrm>
          <a:prstGeom prst="ellipse">
            <a:avLst/>
          </a:prstGeom>
          <a:solidFill>
            <a:srgbClr val="1F4D3A"/>
          </a:solidFill>
          <a:ln/>
        </p:spPr>
      </p:sp>
      <p:pic>
        <p:nvPicPr>
          <p:cNvPr id="886600177" name="Image 2" descr="/home/claude/work/krishibazar_deck_project/icons/radio_white.png"/>
          <p:cNvPicPr>
            <a:picLocks noChangeAspect="1"/>
          </p:cNvPicPr>
          <p:nvPr/>
        </p:nvPicPr>
        <p:blipFill rotWithShape="1">
          <a:blip r:embed="rId5"/>
          <a:stretch/>
        </p:blipFill>
        <p:spPr bwMode="auto">
          <a:xfrm>
            <a:off x="8356092" y="1677924"/>
            <a:ext cx="338328" cy="338328"/>
          </a:xfrm>
          <a:prstGeom prst="rect">
            <a:avLst/>
          </a:prstGeom>
        </p:spPr>
      </p:pic>
      <p:sp>
        <p:nvSpPr>
          <p:cNvPr id="1640578074" name="Text 19"/>
          <p:cNvSpPr txBox="1"/>
          <p:nvPr/>
        </p:nvSpPr>
        <p:spPr bwMode="auto">
          <a:xfrm>
            <a:off x="8872728" y="1664208"/>
            <a:ext cx="2602992" cy="38404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Monitoring</a:t>
            </a:r>
            <a:endParaRPr lang="en-US" sz="1300"/>
          </a:p>
        </p:txBody>
      </p:sp>
      <p:sp>
        <p:nvSpPr>
          <p:cNvPr id="509948502" name="Text 20"/>
          <p:cNvSpPr txBox="1"/>
          <p:nvPr/>
        </p:nvSpPr>
        <p:spPr bwMode="auto">
          <a:xfrm>
            <a:off x="8324088" y="2167128"/>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Open-Meteo Live Weather</a:t>
            </a:r>
            <a:endParaRPr lang="en-US" sz="1100"/>
          </a:p>
        </p:txBody>
      </p:sp>
      <p:sp>
        <p:nvSpPr>
          <p:cNvPr id="1529579437" name="Text 21"/>
          <p:cNvSpPr txBox="1"/>
          <p:nvPr/>
        </p:nvSpPr>
        <p:spPr bwMode="auto">
          <a:xfrm>
            <a:off x="8324088" y="2459735"/>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Farm Monitoring Dashboard</a:t>
            </a:r>
            <a:endParaRPr lang="en-US" sz="1100"/>
          </a:p>
        </p:txBody>
      </p:sp>
      <p:sp>
        <p:nvSpPr>
          <p:cNvPr id="869506271" name="Text 22"/>
          <p:cNvSpPr txBox="1"/>
          <p:nvPr/>
        </p:nvSpPr>
        <p:spPr bwMode="auto">
          <a:xfrm>
            <a:off x="8324088" y="2752343"/>
            <a:ext cx="3060192"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Simulated IoT Telemetry</a:t>
            </a:r>
            <a:endParaRPr lang="en-US" sz="1100"/>
          </a:p>
        </p:txBody>
      </p:sp>
      <p:sp>
        <p:nvSpPr>
          <p:cNvPr id="1785060944" name="Shape 23"/>
          <p:cNvSpPr/>
          <p:nvPr/>
        </p:nvSpPr>
        <p:spPr bwMode="auto">
          <a:xfrm>
            <a:off x="2112264" y="4005072"/>
            <a:ext cx="3840480" cy="1600200"/>
          </a:xfrm>
          <a:prstGeom prst="roundRect">
            <a:avLst>
              <a:gd name="adj" fmla="val 5143"/>
            </a:avLst>
          </a:prstGeom>
          <a:solidFill>
            <a:srgbClr val="EAF0E6"/>
          </a:solidFill>
          <a:ln/>
        </p:spPr>
      </p:sp>
      <p:sp>
        <p:nvSpPr>
          <p:cNvPr id="2013783764" name="Shape 24"/>
          <p:cNvSpPr/>
          <p:nvPr/>
        </p:nvSpPr>
        <p:spPr bwMode="auto">
          <a:xfrm>
            <a:off x="2313432" y="4206240"/>
            <a:ext cx="457200" cy="457200"/>
          </a:xfrm>
          <a:prstGeom prst="ellipse">
            <a:avLst/>
          </a:prstGeom>
          <a:solidFill>
            <a:srgbClr val="1F4D3A"/>
          </a:solidFill>
          <a:ln/>
        </p:spPr>
      </p:sp>
      <p:pic>
        <p:nvPicPr>
          <p:cNvPr id="63658402" name="Image 3" descr="/home/claude/work/krishibazar_deck_project/icons/cart_white.png"/>
          <p:cNvPicPr>
            <a:picLocks noChangeAspect="1"/>
          </p:cNvPicPr>
          <p:nvPr/>
        </p:nvPicPr>
        <p:blipFill rotWithShape="1">
          <a:blip r:embed="rId6"/>
          <a:stretch/>
        </p:blipFill>
        <p:spPr bwMode="auto">
          <a:xfrm>
            <a:off x="2372868" y="4265676"/>
            <a:ext cx="338328" cy="338328"/>
          </a:xfrm>
          <a:prstGeom prst="rect">
            <a:avLst/>
          </a:prstGeom>
        </p:spPr>
      </p:pic>
      <p:sp>
        <p:nvSpPr>
          <p:cNvPr id="2058493843" name="Text 25"/>
          <p:cNvSpPr txBox="1"/>
          <p:nvPr/>
        </p:nvSpPr>
        <p:spPr bwMode="auto">
          <a:xfrm>
            <a:off x="2889504" y="4251960"/>
            <a:ext cx="2926080" cy="38404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Farmer Services</a:t>
            </a:r>
            <a:endParaRPr lang="en-US" sz="1300"/>
          </a:p>
        </p:txBody>
      </p:sp>
      <p:sp>
        <p:nvSpPr>
          <p:cNvPr id="2030003610" name="Text 26"/>
          <p:cNvSpPr txBox="1"/>
          <p:nvPr/>
        </p:nvSpPr>
        <p:spPr bwMode="auto">
          <a:xfrm>
            <a:off x="2340864" y="4754880"/>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Seasonal Farming Planner</a:t>
            </a:r>
            <a:endParaRPr lang="en-US" sz="1100"/>
          </a:p>
        </p:txBody>
      </p:sp>
      <p:sp>
        <p:nvSpPr>
          <p:cNvPr id="338697530" name="Text 27"/>
          <p:cNvSpPr txBox="1"/>
          <p:nvPr/>
        </p:nvSpPr>
        <p:spPr bwMode="auto">
          <a:xfrm>
            <a:off x="2340864" y="5047488"/>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Marketplace &amp; Farmer Listings</a:t>
            </a:r>
            <a:endParaRPr lang="en-US" sz="1100"/>
          </a:p>
        </p:txBody>
      </p:sp>
      <p:sp>
        <p:nvSpPr>
          <p:cNvPr id="1245021304" name="Text 28"/>
          <p:cNvSpPr txBox="1"/>
          <p:nvPr/>
        </p:nvSpPr>
        <p:spPr bwMode="auto">
          <a:xfrm>
            <a:off x="2340864" y="5340096"/>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Order Management</a:t>
            </a:r>
            <a:endParaRPr lang="en-US" sz="1100"/>
          </a:p>
        </p:txBody>
      </p:sp>
      <p:sp>
        <p:nvSpPr>
          <p:cNvPr id="1089365572" name="Text 29"/>
          <p:cNvSpPr txBox="1"/>
          <p:nvPr/>
        </p:nvSpPr>
        <p:spPr bwMode="auto">
          <a:xfrm>
            <a:off x="2340864" y="5632704"/>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Notifications</a:t>
            </a:r>
            <a:endParaRPr lang="en-US" sz="1100"/>
          </a:p>
        </p:txBody>
      </p:sp>
      <p:sp>
        <p:nvSpPr>
          <p:cNvPr id="1031335816" name="Shape 30"/>
          <p:cNvSpPr/>
          <p:nvPr/>
        </p:nvSpPr>
        <p:spPr bwMode="auto">
          <a:xfrm>
            <a:off x="6208776" y="4005072"/>
            <a:ext cx="3840480" cy="1600200"/>
          </a:xfrm>
          <a:prstGeom prst="roundRect">
            <a:avLst>
              <a:gd name="adj" fmla="val 5143"/>
            </a:avLst>
          </a:prstGeom>
          <a:solidFill>
            <a:srgbClr val="EAF0E6"/>
          </a:solidFill>
          <a:ln/>
        </p:spPr>
      </p:sp>
      <p:sp>
        <p:nvSpPr>
          <p:cNvPr id="886044428" name="Shape 31"/>
          <p:cNvSpPr/>
          <p:nvPr/>
        </p:nvSpPr>
        <p:spPr bwMode="auto">
          <a:xfrm>
            <a:off x="6409944" y="4206240"/>
            <a:ext cx="457200" cy="457200"/>
          </a:xfrm>
          <a:prstGeom prst="ellipse">
            <a:avLst/>
          </a:prstGeom>
          <a:solidFill>
            <a:srgbClr val="1F4D3A"/>
          </a:solidFill>
          <a:ln/>
        </p:spPr>
      </p:sp>
      <p:pic>
        <p:nvPicPr>
          <p:cNvPr id="200749840" name="Image 4" descr="/home/claude/work/krishibazar_deck_project/icons/languages_white.png"/>
          <p:cNvPicPr>
            <a:picLocks noChangeAspect="1"/>
          </p:cNvPicPr>
          <p:nvPr/>
        </p:nvPicPr>
        <p:blipFill rotWithShape="1">
          <a:blip r:embed="rId7"/>
          <a:stretch/>
        </p:blipFill>
        <p:spPr bwMode="auto">
          <a:xfrm>
            <a:off x="6469380" y="4265676"/>
            <a:ext cx="338328" cy="338328"/>
          </a:xfrm>
          <a:prstGeom prst="rect">
            <a:avLst/>
          </a:prstGeom>
        </p:spPr>
      </p:pic>
      <p:sp>
        <p:nvSpPr>
          <p:cNvPr id="1005881118" name="Text 32"/>
          <p:cNvSpPr txBox="1"/>
          <p:nvPr/>
        </p:nvSpPr>
        <p:spPr bwMode="auto">
          <a:xfrm>
            <a:off x="6986016" y="4251960"/>
            <a:ext cx="2926080" cy="384048"/>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Language</a:t>
            </a:r>
            <a:endParaRPr lang="en-US" sz="1300"/>
          </a:p>
        </p:txBody>
      </p:sp>
      <p:sp>
        <p:nvSpPr>
          <p:cNvPr id="187911488" name="Text 33"/>
          <p:cNvSpPr txBox="1"/>
          <p:nvPr/>
        </p:nvSpPr>
        <p:spPr bwMode="auto">
          <a:xfrm>
            <a:off x="6437376" y="4754880"/>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Bangla (বাংলা) &amp; English</a:t>
            </a:r>
            <a:endParaRPr lang="en-US" sz="1100"/>
          </a:p>
        </p:txBody>
      </p:sp>
      <p:sp>
        <p:nvSpPr>
          <p:cNvPr id="1867668441" name="Text 34"/>
          <p:cNvSpPr txBox="1"/>
          <p:nvPr/>
        </p:nvSpPr>
        <p:spPr bwMode="auto">
          <a:xfrm>
            <a:off x="6437376" y="5047488"/>
            <a:ext cx="3383280" cy="274320"/>
          </a:xfrm>
          <a:prstGeom prst="rect">
            <a:avLst/>
          </a:prstGeom>
          <a:noFill/>
          <a:ln/>
        </p:spPr>
        <p:txBody>
          <a:bodyPr wrap="square" lIns="0" tIns="0" rIns="0" bIns="0" rtlCol="0" anchor="ctr"/>
          <a:lstStyle/>
          <a:p>
            <a:pPr marL="0" indent="0">
              <a:buNone/>
              <a:defRPr/>
            </a:pPr>
            <a:r>
              <a:rPr lang="en-US" sz="1100">
                <a:solidFill>
                  <a:srgbClr val="222B26"/>
                </a:solidFill>
                <a:latin typeface="Calibri"/>
                <a:ea typeface="Calibri"/>
                <a:cs typeface="Calibri"/>
              </a:rPr>
              <a:t>•  One-tap interface switching</a:t>
            </a:r>
            <a:endParaRPr lang="en-US" sz="1100"/>
          </a:p>
        </p:txBody>
      </p:sp>
      <p:sp>
        <p:nvSpPr>
          <p:cNvPr id="1302197789" name="Text 35"/>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945471669" name="Text 36"/>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396026387"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SYSTEM DESIGN</a:t>
            </a:r>
            <a:endParaRPr lang="en-US" sz="1150"/>
          </a:p>
        </p:txBody>
      </p:sp>
      <p:sp>
        <p:nvSpPr>
          <p:cNvPr id="1727215421"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AI + API Architecture</a:t>
            </a:r>
            <a:endParaRPr lang="en-US" sz="2800"/>
          </a:p>
        </p:txBody>
      </p:sp>
      <p:sp>
        <p:nvSpPr>
          <p:cNvPr id="1091662876" name="Shape 2"/>
          <p:cNvSpPr/>
          <p:nvPr/>
        </p:nvSpPr>
        <p:spPr bwMode="auto">
          <a:xfrm>
            <a:off x="4727448" y="1371600"/>
            <a:ext cx="2743200" cy="566928"/>
          </a:xfrm>
          <a:prstGeom prst="roundRect">
            <a:avLst>
              <a:gd name="adj" fmla="val 12903"/>
            </a:avLst>
          </a:prstGeom>
          <a:solidFill>
            <a:srgbClr val="1F4D3A"/>
          </a:solidFill>
          <a:ln/>
        </p:spPr>
      </p:sp>
      <p:sp>
        <p:nvSpPr>
          <p:cNvPr id="1808551814" name="Shape 3"/>
          <p:cNvSpPr/>
          <p:nvPr/>
        </p:nvSpPr>
        <p:spPr bwMode="auto">
          <a:xfrm>
            <a:off x="4892039" y="1435608"/>
            <a:ext cx="438912" cy="438912"/>
          </a:xfrm>
          <a:prstGeom prst="ellipse">
            <a:avLst/>
          </a:prstGeom>
          <a:solidFill>
            <a:srgbClr val="3E6B54"/>
          </a:solidFill>
          <a:ln/>
        </p:spPr>
      </p:sp>
      <p:pic>
        <p:nvPicPr>
          <p:cNvPr id="1864049248" name="Image 0" descr="/home/claude/work/krishibazar_deck_project/icons/smartphone_white.png"/>
          <p:cNvPicPr>
            <a:picLocks noChangeAspect="1"/>
          </p:cNvPicPr>
          <p:nvPr/>
        </p:nvPicPr>
        <p:blipFill rotWithShape="1">
          <a:blip r:embed="rId3"/>
          <a:stretch/>
        </p:blipFill>
        <p:spPr bwMode="auto">
          <a:xfrm>
            <a:off x="4949099" y="1492667"/>
            <a:ext cx="324795" cy="324795"/>
          </a:xfrm>
          <a:prstGeom prst="rect">
            <a:avLst/>
          </a:prstGeom>
        </p:spPr>
      </p:pic>
      <p:sp>
        <p:nvSpPr>
          <p:cNvPr id="635362536" name="Text 4"/>
          <p:cNvSpPr txBox="1"/>
          <p:nvPr/>
        </p:nvSpPr>
        <p:spPr bwMode="auto">
          <a:xfrm>
            <a:off x="5477255" y="1481328"/>
            <a:ext cx="1810512" cy="310896"/>
          </a:xfrm>
          <a:prstGeom prst="rect">
            <a:avLst/>
          </a:prstGeom>
          <a:noFill/>
          <a:ln/>
        </p:spPr>
        <p:txBody>
          <a:bodyPr wrap="square" lIns="0" tIns="0" rIns="0" bIns="0" rtlCol="0" anchor="ctr"/>
          <a:lstStyle/>
          <a:p>
            <a:pPr marL="0" indent="0">
              <a:buNone/>
              <a:defRPr/>
            </a:pPr>
            <a:r>
              <a:rPr lang="en-US" sz="1300" b="1">
                <a:solidFill>
                  <a:srgbClr val="FFFFFF"/>
                </a:solidFill>
                <a:latin typeface="Calibri"/>
                <a:ea typeface="Calibri"/>
                <a:cs typeface="Calibri"/>
              </a:rPr>
              <a:t>Farmer</a:t>
            </a:r>
            <a:endParaRPr lang="en-US" sz="1300"/>
          </a:p>
        </p:txBody>
      </p:sp>
      <p:sp>
        <p:nvSpPr>
          <p:cNvPr id="1894614393" name="Text 5"/>
          <p:cNvSpPr txBox="1"/>
          <p:nvPr/>
        </p:nvSpPr>
        <p:spPr bwMode="auto">
          <a:xfrm>
            <a:off x="5477255" y="1792224"/>
            <a:ext cx="1810512" cy="64008"/>
          </a:xfrm>
          <a:prstGeom prst="rect">
            <a:avLst/>
          </a:prstGeom>
          <a:noFill/>
          <a:ln/>
        </p:spPr>
        <p:txBody>
          <a:bodyPr wrap="square" lIns="0" tIns="0" rIns="0" bIns="0" rtlCol="0" anchor="ctr"/>
          <a:lstStyle/>
          <a:p>
            <a:pPr marL="0" indent="0">
              <a:lnSpc>
                <a:spcPct val="112000"/>
              </a:lnSpc>
              <a:buNone/>
              <a:defRPr/>
            </a:pPr>
            <a:r>
              <a:rPr lang="en-US" sz="1050">
                <a:solidFill>
                  <a:srgbClr val="D7E6DA"/>
                </a:solidFill>
                <a:latin typeface="Calibri"/>
                <a:ea typeface="Calibri"/>
                <a:cs typeface="Calibri"/>
              </a:rPr>
              <a:t>End user on mobile device</a:t>
            </a:r>
            <a:endParaRPr lang="en-US" sz="1050"/>
          </a:p>
        </p:txBody>
      </p:sp>
      <p:sp>
        <p:nvSpPr>
          <p:cNvPr id="1150005684" name="Shape 6"/>
          <p:cNvSpPr/>
          <p:nvPr/>
        </p:nvSpPr>
        <p:spPr bwMode="auto">
          <a:xfrm>
            <a:off x="6099048" y="1938528"/>
            <a:ext cx="0" cy="292608"/>
          </a:xfrm>
          <a:prstGeom prst="line">
            <a:avLst/>
          </a:prstGeom>
          <a:noFill/>
          <a:ln w="22225">
            <a:solidFill>
              <a:srgbClr val="CBD9C4"/>
            </a:solidFill>
            <a:prstDash val="solid"/>
          </a:ln>
        </p:spPr>
      </p:sp>
      <p:sp>
        <p:nvSpPr>
          <p:cNvPr id="1533059044" name="Shape 7"/>
          <p:cNvSpPr/>
          <p:nvPr/>
        </p:nvSpPr>
        <p:spPr bwMode="auto">
          <a:xfrm>
            <a:off x="3566160" y="2231136"/>
            <a:ext cx="5056632" cy="685800"/>
          </a:xfrm>
          <a:prstGeom prst="roundRect">
            <a:avLst>
              <a:gd name="adj" fmla="val 10667"/>
            </a:avLst>
          </a:prstGeom>
          <a:solidFill>
            <a:srgbClr val="EAF0E6"/>
          </a:solidFill>
          <a:ln/>
        </p:spPr>
      </p:sp>
      <p:sp>
        <p:nvSpPr>
          <p:cNvPr id="209983950" name="Shape 8"/>
          <p:cNvSpPr/>
          <p:nvPr/>
        </p:nvSpPr>
        <p:spPr bwMode="auto">
          <a:xfrm>
            <a:off x="3730752" y="2354580"/>
            <a:ext cx="438912" cy="438912"/>
          </a:xfrm>
          <a:prstGeom prst="ellipse">
            <a:avLst/>
          </a:prstGeom>
          <a:solidFill>
            <a:srgbClr val="1F4D3A"/>
          </a:solidFill>
          <a:ln/>
        </p:spPr>
      </p:sp>
      <p:pic>
        <p:nvPicPr>
          <p:cNvPr id="1934457607" name="Image 1" descr="/home/claude/work/krishibazar_deck_project/icons/cpu_white.png"/>
          <p:cNvPicPr>
            <a:picLocks noChangeAspect="1"/>
          </p:cNvPicPr>
          <p:nvPr/>
        </p:nvPicPr>
        <p:blipFill rotWithShape="1">
          <a:blip r:embed="rId4"/>
          <a:stretch/>
        </p:blipFill>
        <p:spPr bwMode="auto">
          <a:xfrm>
            <a:off x="3787811" y="2411639"/>
            <a:ext cx="324795" cy="324795"/>
          </a:xfrm>
          <a:prstGeom prst="rect">
            <a:avLst/>
          </a:prstGeom>
        </p:spPr>
      </p:pic>
      <p:sp>
        <p:nvSpPr>
          <p:cNvPr id="424987581" name="Text 9"/>
          <p:cNvSpPr txBox="1"/>
          <p:nvPr/>
        </p:nvSpPr>
        <p:spPr bwMode="auto">
          <a:xfrm>
            <a:off x="4315968" y="2340864"/>
            <a:ext cx="4123944" cy="310896"/>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KrishiBazar Frontend</a:t>
            </a:r>
            <a:endParaRPr lang="en-US" sz="1300"/>
          </a:p>
        </p:txBody>
      </p:sp>
      <p:sp>
        <p:nvSpPr>
          <p:cNvPr id="293211041" name="Text 10"/>
          <p:cNvSpPr txBox="1"/>
          <p:nvPr/>
        </p:nvSpPr>
        <p:spPr bwMode="auto">
          <a:xfrm>
            <a:off x="4315968" y="2651760"/>
            <a:ext cx="4123944" cy="182880"/>
          </a:xfrm>
          <a:prstGeom prst="rect">
            <a:avLst/>
          </a:prstGeom>
          <a:noFill/>
          <a:ln/>
        </p:spPr>
        <p:txBody>
          <a:bodyPr wrap="square" lIns="0" tIns="0" rIns="0" bIns="0" rtlCol="0" anchor="ctr"/>
          <a:lstStyle/>
          <a:p>
            <a:pPr marL="0" indent="0">
              <a:lnSpc>
                <a:spcPct val="112000"/>
              </a:lnSpc>
              <a:buNone/>
              <a:defRPr/>
            </a:pPr>
            <a:r>
              <a:rPr lang="en-US" sz="1050">
                <a:solidFill>
                  <a:srgbClr val="222B26"/>
                </a:solidFill>
                <a:latin typeface="Calibri"/>
                <a:ea typeface="Calibri"/>
                <a:cs typeface="Calibri"/>
              </a:rPr>
              <a:t>React 19 + TypeScript + Tailwind — all farmer-facing screens and logic</a:t>
            </a:r>
            <a:endParaRPr lang="en-US" sz="1050"/>
          </a:p>
        </p:txBody>
      </p:sp>
      <p:sp>
        <p:nvSpPr>
          <p:cNvPr id="2109185026" name="Shape 11"/>
          <p:cNvSpPr/>
          <p:nvPr/>
        </p:nvSpPr>
        <p:spPr bwMode="auto">
          <a:xfrm flipH="1" flipV="0">
            <a:off x="2971800" y="2916936"/>
            <a:ext cx="3127248" cy="502920"/>
          </a:xfrm>
          <a:prstGeom prst="line">
            <a:avLst/>
          </a:prstGeom>
          <a:noFill/>
          <a:ln w="22225">
            <a:solidFill>
              <a:srgbClr val="CBD9C4"/>
            </a:solidFill>
            <a:prstDash val="solid"/>
          </a:ln>
        </p:spPr>
      </p:sp>
      <p:sp>
        <p:nvSpPr>
          <p:cNvPr id="83568346" name="Shape 12"/>
          <p:cNvSpPr/>
          <p:nvPr/>
        </p:nvSpPr>
        <p:spPr bwMode="auto">
          <a:xfrm>
            <a:off x="6099048" y="2916936"/>
            <a:ext cx="3291840" cy="502920"/>
          </a:xfrm>
          <a:prstGeom prst="line">
            <a:avLst/>
          </a:prstGeom>
          <a:noFill/>
          <a:ln w="22225">
            <a:solidFill>
              <a:srgbClr val="CBD9C4"/>
            </a:solidFill>
            <a:prstDash val="solid"/>
          </a:ln>
        </p:spPr>
      </p:sp>
      <p:sp>
        <p:nvSpPr>
          <p:cNvPr id="2081405296" name="Shape 13"/>
          <p:cNvSpPr/>
          <p:nvPr/>
        </p:nvSpPr>
        <p:spPr bwMode="auto">
          <a:xfrm>
            <a:off x="914400" y="3419856"/>
            <a:ext cx="4114800" cy="960120"/>
          </a:xfrm>
          <a:prstGeom prst="roundRect">
            <a:avLst>
              <a:gd name="adj" fmla="val 7619"/>
            </a:avLst>
          </a:prstGeom>
          <a:solidFill>
            <a:srgbClr val="F4E6CE"/>
          </a:solidFill>
          <a:ln/>
        </p:spPr>
      </p:sp>
      <p:sp>
        <p:nvSpPr>
          <p:cNvPr id="1865037188" name="Shape 14"/>
          <p:cNvSpPr/>
          <p:nvPr/>
        </p:nvSpPr>
        <p:spPr bwMode="auto">
          <a:xfrm>
            <a:off x="1078992" y="3680460"/>
            <a:ext cx="438912" cy="438912"/>
          </a:xfrm>
          <a:prstGeom prst="ellipse">
            <a:avLst/>
          </a:prstGeom>
          <a:solidFill>
            <a:srgbClr val="1F4D3A"/>
          </a:solidFill>
          <a:ln/>
        </p:spPr>
      </p:sp>
      <p:pic>
        <p:nvPicPr>
          <p:cNvPr id="193408441" name="Image 2" descr="/home/claude/work/krishibazar_deck_project/icons/cloud_rain_white.png"/>
          <p:cNvPicPr>
            <a:picLocks noChangeAspect="1"/>
          </p:cNvPicPr>
          <p:nvPr/>
        </p:nvPicPr>
        <p:blipFill rotWithShape="1">
          <a:blip r:embed="rId5"/>
          <a:stretch/>
        </p:blipFill>
        <p:spPr bwMode="auto">
          <a:xfrm>
            <a:off x="1136051" y="3737519"/>
            <a:ext cx="324795" cy="324795"/>
          </a:xfrm>
          <a:prstGeom prst="rect">
            <a:avLst/>
          </a:prstGeom>
        </p:spPr>
      </p:pic>
      <p:sp>
        <p:nvSpPr>
          <p:cNvPr id="1067791296" name="Text 15"/>
          <p:cNvSpPr txBox="1"/>
          <p:nvPr/>
        </p:nvSpPr>
        <p:spPr bwMode="auto">
          <a:xfrm>
            <a:off x="1664208" y="3529584"/>
            <a:ext cx="3182112" cy="310896"/>
          </a:xfrm>
          <a:prstGeom prst="rect">
            <a:avLst/>
          </a:prstGeom>
          <a:noFill/>
          <a:ln/>
        </p:spPr>
        <p:txBody>
          <a:bodyPr wrap="square" lIns="0" tIns="0" rIns="0" bIns="0" rtlCol="0" anchor="ctr"/>
          <a:lstStyle/>
          <a:p>
            <a:pPr marL="0" indent="0">
              <a:buNone/>
              <a:defRPr/>
            </a:pPr>
            <a:r>
              <a:rPr lang="en-US" sz="1300" b="1">
                <a:solidFill>
                  <a:srgbClr val="B8792E"/>
                </a:solidFill>
                <a:latin typeface="Calibri"/>
                <a:ea typeface="Calibri"/>
                <a:cs typeface="Calibri"/>
              </a:rPr>
              <a:t>Open-Meteo API</a:t>
            </a:r>
            <a:endParaRPr lang="en-US" sz="1300"/>
          </a:p>
        </p:txBody>
      </p:sp>
      <p:sp>
        <p:nvSpPr>
          <p:cNvPr id="108948329" name="Text 16"/>
          <p:cNvSpPr txBox="1"/>
          <p:nvPr/>
        </p:nvSpPr>
        <p:spPr bwMode="auto">
          <a:xfrm>
            <a:off x="1664208" y="3840480"/>
            <a:ext cx="3182112" cy="457200"/>
          </a:xfrm>
          <a:prstGeom prst="rect">
            <a:avLst/>
          </a:prstGeom>
          <a:noFill/>
          <a:ln/>
        </p:spPr>
        <p:txBody>
          <a:bodyPr wrap="square" lIns="0" tIns="0" rIns="0" bIns="0" rtlCol="0" anchor="ctr"/>
          <a:lstStyle/>
          <a:p>
            <a:pPr marL="0" indent="0">
              <a:lnSpc>
                <a:spcPct val="112000"/>
              </a:lnSpc>
              <a:buNone/>
              <a:defRPr/>
            </a:pPr>
            <a:r>
              <a:rPr lang="en-US" sz="1050">
                <a:solidFill>
                  <a:srgbClr val="222B26"/>
                </a:solidFill>
                <a:latin typeface="Calibri"/>
                <a:ea typeface="Calibri"/>
                <a:cs typeface="Calibri"/>
              </a:rPr>
              <a:t>Live weather: temperature, humidity, rainfall, wind, 7-day forecast — used directly by the frontend, no key required.</a:t>
            </a:r>
            <a:endParaRPr lang="en-US" sz="1050"/>
          </a:p>
        </p:txBody>
      </p:sp>
      <p:sp>
        <p:nvSpPr>
          <p:cNvPr id="460397797" name="Shape 17"/>
          <p:cNvSpPr/>
          <p:nvPr/>
        </p:nvSpPr>
        <p:spPr bwMode="auto">
          <a:xfrm>
            <a:off x="7132320" y="3419856"/>
            <a:ext cx="4160519" cy="960120"/>
          </a:xfrm>
          <a:prstGeom prst="roundRect">
            <a:avLst>
              <a:gd name="adj" fmla="val 7619"/>
            </a:avLst>
          </a:prstGeom>
          <a:solidFill>
            <a:srgbClr val="F4E6CE"/>
          </a:solidFill>
          <a:ln/>
        </p:spPr>
      </p:sp>
      <p:sp>
        <p:nvSpPr>
          <p:cNvPr id="1009661321" name="Shape 18"/>
          <p:cNvSpPr/>
          <p:nvPr/>
        </p:nvSpPr>
        <p:spPr bwMode="auto">
          <a:xfrm>
            <a:off x="7296912" y="3680460"/>
            <a:ext cx="438912" cy="438912"/>
          </a:xfrm>
          <a:prstGeom prst="ellipse">
            <a:avLst/>
          </a:prstGeom>
          <a:solidFill>
            <a:srgbClr val="1F4D3A"/>
          </a:solidFill>
          <a:ln/>
        </p:spPr>
      </p:sp>
      <p:pic>
        <p:nvPicPr>
          <p:cNvPr id="1030905284" name="Image 3" descr="/home/claude/work/krishibazar_deck_project/icons/server_white.png"/>
          <p:cNvPicPr>
            <a:picLocks noChangeAspect="1"/>
          </p:cNvPicPr>
          <p:nvPr/>
        </p:nvPicPr>
        <p:blipFill rotWithShape="1">
          <a:blip r:embed="rId6"/>
          <a:stretch/>
        </p:blipFill>
        <p:spPr bwMode="auto">
          <a:xfrm>
            <a:off x="7353971" y="3737519"/>
            <a:ext cx="324795" cy="324795"/>
          </a:xfrm>
          <a:prstGeom prst="rect">
            <a:avLst/>
          </a:prstGeom>
        </p:spPr>
      </p:pic>
      <p:sp>
        <p:nvSpPr>
          <p:cNvPr id="618891595" name="Text 19"/>
          <p:cNvSpPr txBox="1"/>
          <p:nvPr/>
        </p:nvSpPr>
        <p:spPr bwMode="auto">
          <a:xfrm>
            <a:off x="7882128" y="3529584"/>
            <a:ext cx="3227832" cy="310896"/>
          </a:xfrm>
          <a:prstGeom prst="rect">
            <a:avLst/>
          </a:prstGeom>
          <a:noFill/>
          <a:ln/>
        </p:spPr>
        <p:txBody>
          <a:bodyPr wrap="square" lIns="0" tIns="0" rIns="0" bIns="0" rtlCol="0" anchor="ctr"/>
          <a:lstStyle/>
          <a:p>
            <a:pPr marL="0" indent="0">
              <a:buNone/>
              <a:defRPr/>
            </a:pPr>
            <a:r>
              <a:rPr lang="en-US" sz="1300" b="1">
                <a:solidFill>
                  <a:srgbClr val="B8792E"/>
                </a:solidFill>
                <a:latin typeface="Calibri"/>
                <a:ea typeface="Calibri"/>
                <a:cs typeface="Calibri"/>
              </a:rPr>
              <a:t>Server-Side API Proxy</a:t>
            </a:r>
            <a:endParaRPr lang="en-US" sz="1300"/>
          </a:p>
        </p:txBody>
      </p:sp>
      <p:sp>
        <p:nvSpPr>
          <p:cNvPr id="37968755" name="Text 20"/>
          <p:cNvSpPr txBox="1"/>
          <p:nvPr/>
        </p:nvSpPr>
        <p:spPr bwMode="auto">
          <a:xfrm>
            <a:off x="7882128" y="3840480"/>
            <a:ext cx="3227832" cy="457200"/>
          </a:xfrm>
          <a:prstGeom prst="rect">
            <a:avLst/>
          </a:prstGeom>
          <a:noFill/>
          <a:ln/>
        </p:spPr>
        <p:txBody>
          <a:bodyPr wrap="square" lIns="0" tIns="0" rIns="0" bIns="0" rtlCol="0" anchor="ctr"/>
          <a:lstStyle/>
          <a:p>
            <a:pPr marL="0" indent="0">
              <a:lnSpc>
                <a:spcPct val="112000"/>
              </a:lnSpc>
              <a:buNone/>
              <a:defRPr/>
            </a:pPr>
            <a:r>
              <a:rPr lang="en-US" sz="1050">
                <a:solidFill>
                  <a:srgbClr val="222B26"/>
                </a:solidFill>
                <a:latin typeface="Calibri"/>
                <a:ea typeface="Calibri"/>
                <a:cs typeface="Calibri"/>
              </a:rPr>
              <a:t>Minimal Express route — forwards requests to Gemini and keeps GEMINI_API_KEY out of the browser. Not a full application backend.</a:t>
            </a:r>
            <a:endParaRPr lang="en-US" sz="1050"/>
          </a:p>
        </p:txBody>
      </p:sp>
      <p:sp>
        <p:nvSpPr>
          <p:cNvPr id="1389785248" name="Shape 21"/>
          <p:cNvSpPr/>
          <p:nvPr/>
        </p:nvSpPr>
        <p:spPr bwMode="auto">
          <a:xfrm>
            <a:off x="9208008" y="4379976"/>
            <a:ext cx="0" cy="384048"/>
          </a:xfrm>
          <a:prstGeom prst="line">
            <a:avLst/>
          </a:prstGeom>
          <a:noFill/>
          <a:ln w="22225">
            <a:solidFill>
              <a:srgbClr val="CBD9C4"/>
            </a:solidFill>
            <a:prstDash val="solid"/>
          </a:ln>
        </p:spPr>
      </p:sp>
      <p:sp>
        <p:nvSpPr>
          <p:cNvPr id="644760304" name="Shape 22"/>
          <p:cNvSpPr/>
          <p:nvPr/>
        </p:nvSpPr>
        <p:spPr bwMode="auto">
          <a:xfrm>
            <a:off x="7132320" y="4764024"/>
            <a:ext cx="4160519" cy="914400"/>
          </a:xfrm>
          <a:prstGeom prst="roundRect">
            <a:avLst>
              <a:gd name="adj" fmla="val 8000"/>
            </a:avLst>
          </a:prstGeom>
          <a:solidFill>
            <a:srgbClr val="1F4D3A"/>
          </a:solidFill>
          <a:ln/>
        </p:spPr>
      </p:sp>
      <p:sp>
        <p:nvSpPr>
          <p:cNvPr id="1422116028" name="Shape 23"/>
          <p:cNvSpPr/>
          <p:nvPr/>
        </p:nvSpPr>
        <p:spPr bwMode="auto">
          <a:xfrm>
            <a:off x="7296912" y="5001768"/>
            <a:ext cx="438912" cy="438912"/>
          </a:xfrm>
          <a:prstGeom prst="ellipse">
            <a:avLst/>
          </a:prstGeom>
          <a:solidFill>
            <a:srgbClr val="3E6B54"/>
          </a:solidFill>
          <a:ln/>
        </p:spPr>
      </p:sp>
      <p:pic>
        <p:nvPicPr>
          <p:cNvPr id="2040487552" name="Image 4" descr="/home/claude/work/krishibazar_deck_project/icons/sparkles_white.png"/>
          <p:cNvPicPr>
            <a:picLocks noChangeAspect="1"/>
          </p:cNvPicPr>
          <p:nvPr/>
        </p:nvPicPr>
        <p:blipFill rotWithShape="1">
          <a:blip r:embed="rId7"/>
          <a:stretch/>
        </p:blipFill>
        <p:spPr bwMode="auto">
          <a:xfrm>
            <a:off x="7353971" y="5058827"/>
            <a:ext cx="324795" cy="324795"/>
          </a:xfrm>
          <a:prstGeom prst="rect">
            <a:avLst/>
          </a:prstGeom>
        </p:spPr>
      </p:pic>
      <p:sp>
        <p:nvSpPr>
          <p:cNvPr id="340614671" name="Text 24"/>
          <p:cNvSpPr txBox="1"/>
          <p:nvPr/>
        </p:nvSpPr>
        <p:spPr bwMode="auto">
          <a:xfrm>
            <a:off x="7882128" y="4873752"/>
            <a:ext cx="3227832" cy="310896"/>
          </a:xfrm>
          <a:prstGeom prst="rect">
            <a:avLst/>
          </a:prstGeom>
          <a:noFill/>
          <a:ln/>
        </p:spPr>
        <p:txBody>
          <a:bodyPr wrap="square" lIns="0" tIns="0" rIns="0" bIns="0" rtlCol="0" anchor="ctr"/>
          <a:lstStyle/>
          <a:p>
            <a:pPr marL="0" indent="0">
              <a:buNone/>
              <a:defRPr/>
            </a:pPr>
            <a:r>
              <a:rPr lang="en-US" sz="1300" b="1">
                <a:solidFill>
                  <a:srgbClr val="FFFFFF"/>
                </a:solidFill>
                <a:latin typeface="Calibri"/>
                <a:ea typeface="Calibri"/>
                <a:cs typeface="Calibri"/>
              </a:rPr>
              <a:t>Gemini API</a:t>
            </a:r>
            <a:endParaRPr lang="en-US" sz="1300"/>
          </a:p>
        </p:txBody>
      </p:sp>
      <p:sp>
        <p:nvSpPr>
          <p:cNvPr id="1034712806" name="Text 25"/>
          <p:cNvSpPr txBox="1"/>
          <p:nvPr/>
        </p:nvSpPr>
        <p:spPr bwMode="auto">
          <a:xfrm>
            <a:off x="7882128" y="5184648"/>
            <a:ext cx="3227832" cy="411480"/>
          </a:xfrm>
          <a:prstGeom prst="rect">
            <a:avLst/>
          </a:prstGeom>
          <a:noFill/>
          <a:ln/>
        </p:spPr>
        <p:txBody>
          <a:bodyPr wrap="square" lIns="0" tIns="0" rIns="0" bIns="0" rtlCol="0" anchor="ctr"/>
          <a:lstStyle/>
          <a:p>
            <a:pPr marL="0" indent="0">
              <a:lnSpc>
                <a:spcPct val="112000"/>
              </a:lnSpc>
              <a:buNone/>
              <a:defRPr/>
            </a:pPr>
            <a:r>
              <a:rPr lang="en-US" sz="1050">
                <a:solidFill>
                  <a:srgbClr val="D7E6DA"/>
                </a:solidFill>
                <a:latin typeface="Calibri"/>
                <a:ea typeface="Calibri"/>
                <a:cs typeface="Calibri"/>
              </a:rPr>
              <a:t>AI reasoning: daily farm recommendations, chat assistant, and image-based disease analysis.</a:t>
            </a:r>
            <a:endParaRPr lang="en-US" sz="1050"/>
          </a:p>
        </p:txBody>
      </p:sp>
      <p:sp>
        <p:nvSpPr>
          <p:cNvPr id="829102811" name="Shape 26"/>
          <p:cNvSpPr/>
          <p:nvPr/>
        </p:nvSpPr>
        <p:spPr bwMode="auto">
          <a:xfrm>
            <a:off x="2971800" y="4379976"/>
            <a:ext cx="3127248" cy="1517904"/>
          </a:xfrm>
          <a:prstGeom prst="line">
            <a:avLst/>
          </a:prstGeom>
          <a:noFill/>
          <a:ln w="22225">
            <a:solidFill>
              <a:srgbClr val="CBD9C4"/>
            </a:solidFill>
            <a:prstDash val="solid"/>
          </a:ln>
        </p:spPr>
      </p:sp>
      <p:sp>
        <p:nvSpPr>
          <p:cNvPr id="801291209" name="Shape 27"/>
          <p:cNvSpPr/>
          <p:nvPr/>
        </p:nvSpPr>
        <p:spPr bwMode="auto">
          <a:xfrm flipH="1" flipV="0">
            <a:off x="6094476" y="5678424"/>
            <a:ext cx="3113532" cy="219456"/>
          </a:xfrm>
          <a:prstGeom prst="line">
            <a:avLst/>
          </a:prstGeom>
          <a:noFill/>
          <a:ln w="22225">
            <a:solidFill>
              <a:srgbClr val="CBD9C4"/>
            </a:solidFill>
            <a:prstDash val="solid"/>
          </a:ln>
        </p:spPr>
      </p:sp>
      <p:sp>
        <p:nvSpPr>
          <p:cNvPr id="1916431832" name="Shape 28"/>
          <p:cNvSpPr/>
          <p:nvPr/>
        </p:nvSpPr>
        <p:spPr bwMode="auto">
          <a:xfrm>
            <a:off x="3566160" y="5897880"/>
            <a:ext cx="5056632" cy="566928"/>
          </a:xfrm>
          <a:prstGeom prst="roundRect">
            <a:avLst>
              <a:gd name="adj" fmla="val 12903"/>
            </a:avLst>
          </a:prstGeom>
          <a:solidFill>
            <a:srgbClr val="EAF0E6"/>
          </a:solidFill>
          <a:ln/>
        </p:spPr>
      </p:sp>
      <p:sp>
        <p:nvSpPr>
          <p:cNvPr id="1383324219" name="Shape 29"/>
          <p:cNvSpPr/>
          <p:nvPr/>
        </p:nvSpPr>
        <p:spPr bwMode="auto">
          <a:xfrm>
            <a:off x="3730752" y="5961888"/>
            <a:ext cx="438912" cy="438912"/>
          </a:xfrm>
          <a:prstGeom prst="ellipse">
            <a:avLst/>
          </a:prstGeom>
          <a:solidFill>
            <a:srgbClr val="1F4D3A"/>
          </a:solidFill>
          <a:ln/>
        </p:spPr>
      </p:sp>
      <p:pic>
        <p:nvPicPr>
          <p:cNvPr id="748617718" name="Image 5" descr="/home/claude/work/krishibazar_deck_project/icons/target_white.png"/>
          <p:cNvPicPr>
            <a:picLocks noChangeAspect="1"/>
          </p:cNvPicPr>
          <p:nvPr/>
        </p:nvPicPr>
        <p:blipFill rotWithShape="1">
          <a:blip r:embed="rId8"/>
          <a:stretch/>
        </p:blipFill>
        <p:spPr bwMode="auto">
          <a:xfrm>
            <a:off x="3787811" y="6018947"/>
            <a:ext cx="324795" cy="324795"/>
          </a:xfrm>
          <a:prstGeom prst="rect">
            <a:avLst/>
          </a:prstGeom>
        </p:spPr>
      </p:pic>
      <p:sp>
        <p:nvSpPr>
          <p:cNvPr id="346853870" name="Text 30"/>
          <p:cNvSpPr txBox="1"/>
          <p:nvPr/>
        </p:nvSpPr>
        <p:spPr bwMode="auto">
          <a:xfrm>
            <a:off x="4315968" y="6007607"/>
            <a:ext cx="4123944" cy="310896"/>
          </a:xfrm>
          <a:prstGeom prst="rect">
            <a:avLst/>
          </a:prstGeom>
          <a:noFill/>
          <a:ln/>
        </p:spPr>
        <p:txBody>
          <a:bodyPr wrap="square" lIns="0" tIns="0" rIns="0" bIns="0" rtlCol="0" anchor="ctr"/>
          <a:lstStyle/>
          <a:p>
            <a:pPr marL="0" indent="0">
              <a:buNone/>
              <a:defRPr/>
            </a:pPr>
            <a:r>
              <a:rPr lang="en-US" sz="1300" b="1">
                <a:solidFill>
                  <a:srgbClr val="1F4D3A"/>
                </a:solidFill>
                <a:latin typeface="Calibri"/>
                <a:ea typeface="Calibri"/>
                <a:cs typeface="Calibri"/>
              </a:rPr>
              <a:t>Farmer Decision Support</a:t>
            </a:r>
            <a:endParaRPr lang="en-US" sz="1300"/>
          </a:p>
        </p:txBody>
      </p:sp>
      <p:sp>
        <p:nvSpPr>
          <p:cNvPr id="1142024598" name="Text 31"/>
          <p:cNvSpPr txBox="1"/>
          <p:nvPr/>
        </p:nvSpPr>
        <p:spPr bwMode="auto">
          <a:xfrm>
            <a:off x="4315968" y="6318504"/>
            <a:ext cx="4123944" cy="64008"/>
          </a:xfrm>
          <a:prstGeom prst="rect">
            <a:avLst/>
          </a:prstGeom>
          <a:noFill/>
          <a:ln/>
        </p:spPr>
        <p:txBody>
          <a:bodyPr wrap="square" lIns="0" tIns="0" rIns="0" bIns="0" rtlCol="0" anchor="ctr"/>
          <a:lstStyle/>
          <a:p>
            <a:pPr marL="0" indent="0">
              <a:lnSpc>
                <a:spcPct val="112000"/>
              </a:lnSpc>
              <a:buNone/>
              <a:defRPr/>
            </a:pPr>
            <a:r>
              <a:rPr lang="en-US" sz="1050">
                <a:solidFill>
                  <a:srgbClr val="222B26"/>
                </a:solidFill>
                <a:latin typeface="Calibri"/>
                <a:ea typeface="Calibri"/>
                <a:cs typeface="Calibri"/>
              </a:rPr>
              <a:t>Combined weather + AI guidance surfaced across dashboard and tools</a:t>
            </a:r>
            <a:endParaRPr lang="en-US" sz="1050"/>
          </a:p>
        </p:txBody>
      </p:sp>
      <p:sp>
        <p:nvSpPr>
          <p:cNvPr id="1353750338" name="Text 32"/>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596066290" name="Text 33"/>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337049520"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QUALITY ASSURANCE</a:t>
            </a:r>
            <a:endParaRPr lang="en-US" sz="1150"/>
          </a:p>
        </p:txBody>
      </p:sp>
      <p:sp>
        <p:nvSpPr>
          <p:cNvPr id="2072340535" name="Text 1"/>
          <p:cNvSpPr txBox="1"/>
          <p:nvPr/>
        </p:nvSpPr>
        <p:spPr bwMode="auto">
          <a:xfrm>
            <a:off x="548640" y="576072"/>
            <a:ext cx="77724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Testing Done</a:t>
            </a:r>
            <a:endParaRPr lang="en-US" sz="2800"/>
          </a:p>
        </p:txBody>
      </p:sp>
      <p:graphicFrame>
        <p:nvGraphicFramePr>
          <p:cNvPr id="1016307197" name="Table 0"/>
          <p:cNvGraphicFramePr>
            <a:graphicFrameLocks xmlns:a="http://schemas.openxmlformats.org/drawingml/2006/main" noGrp="1"/>
          </p:cNvGraphicFramePr>
          <p:nvPr/>
        </p:nvGraphicFramePr>
        <p:xfrm rot="0">
          <a:off x="548640" y="1417320"/>
          <a:ext cx="7178039" cy="4709160"/>
        </p:xfrm>
        <a:graphic>
          <a:graphicData uri="http://schemas.openxmlformats.org/drawingml/2006/table">
            <a:tbl>
              <a:tblPr firstRow="0" firstCol="0" lastRow="0" lastCol="0" bandRow="0" bandCol="0"/>
              <a:tblGrid>
                <a:gridCol w="2148840"/>
                <a:gridCol w="2834640"/>
                <a:gridCol w="2194560"/>
              </a:tblGrid>
              <a:tr h="470916">
                <a:tc>
                  <a:txBody>
                    <a:bodyPr/>
                    <a:p>
                      <a:pPr marL="0" indent="0" algn="l">
                        <a:buNone/>
                        <a:defRPr/>
                      </a:pPr>
                      <a:r>
                        <a:rPr lang="en-US" sz="1100" b="1">
                          <a:solidFill>
                            <a:srgbClr val="FFFFFF"/>
                          </a:solidFill>
                          <a:latin typeface="Calibri"/>
                          <a:ea typeface="Calibri"/>
                          <a:cs typeface="Calibri"/>
                        </a:rPr>
                        <a:t>Test Type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c>
                  <a:txBody>
                    <a:bodyPr/>
                    <a:p>
                      <a:pPr marL="0" indent="0" algn="l">
                        <a:buNone/>
                        <a:defRPr/>
                      </a:pPr>
                      <a:r>
                        <a:rPr lang="en-US" sz="1100" b="1">
                          <a:solidFill>
                            <a:srgbClr val="FFFFFF"/>
                          </a:solidFill>
                          <a:latin typeface="Calibri"/>
                          <a:ea typeface="Calibri"/>
                          <a:cs typeface="Calibri"/>
                        </a:rPr>
                        <a:t>Purpose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c>
                  <a:txBody>
                    <a:bodyPr/>
                    <a:p>
                      <a:pPr marL="0" indent="0" algn="l">
                        <a:buNone/>
                        <a:defRPr/>
                      </a:pPr>
                      <a:r>
                        <a:rPr lang="en-US" sz="1100" b="1">
                          <a:solidFill>
                            <a:srgbClr val="FFFFFF"/>
                          </a:solidFill>
                          <a:latin typeface="Calibri"/>
                          <a:ea typeface="Calibri"/>
                          <a:cs typeface="Calibri"/>
                        </a:rPr>
                        <a:t>Result</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r>
              <a:tr h="470916">
                <a:tc>
                  <a:txBody>
                    <a:bodyPr/>
                    <a:p>
                      <a:pPr marL="0" indent="0" algn="l">
                        <a:buNone/>
                        <a:defRPr/>
                      </a:pPr>
                      <a:r>
                        <a:rPr lang="en-US" sz="1050">
                          <a:solidFill>
                            <a:srgbClr val="222B26"/>
                          </a:solidFill>
                          <a:latin typeface="Calibri"/>
                          <a:ea typeface="Calibri"/>
                          <a:cs typeface="Calibri"/>
                        </a:rPr>
                        <a:t>TypeScript type-checking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Ensure code compiles without type errors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Passed — no type errors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r>
              <a:tr h="470916">
                <a:tc>
                  <a:txBody>
                    <a:bodyPr/>
                    <a:p>
                      <a:pPr marL="0" indent="0" algn="l">
                        <a:buNone/>
                        <a:defRPr/>
                      </a:pPr>
                      <a:r>
                        <a:rPr lang="en-US" sz="1050">
                          <a:solidFill>
                            <a:srgbClr val="222B26"/>
                          </a:solidFill>
                          <a:latin typeface="Calibri"/>
                          <a:ea typeface="Calibri"/>
                          <a:cs typeface="Calibri"/>
                        </a:rPr>
                        <a:t>Production build (Vite)</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Confirm app builds into deployable assets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Build completed successfully</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r>
              <a:tr h="470916">
                <a:tc>
                  <a:txBody>
                    <a:bodyPr/>
                    <a:p>
                      <a:pPr marL="0" indent="0" algn="l">
                        <a:buNone/>
                        <a:defRPr/>
                      </a:pPr>
                      <a:r>
                        <a:rPr lang="en-US" sz="1050">
                          <a:solidFill>
                            <a:srgbClr val="222B26"/>
                          </a:solidFill>
                          <a:latin typeface="Calibri"/>
                          <a:ea typeface="Calibri"/>
                          <a:cs typeface="Calibri"/>
                        </a:rPr>
                        <a:t>Open-Meteo API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Validate live weather retrieval by district</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Correct data returned for tested locations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r>
              <a:tr h="470916">
                <a:tc>
                  <a:txBody>
                    <a:bodyPr/>
                    <a:p>
                      <a:pPr marL="0" indent="0" algn="l">
                        <a:buNone/>
                        <a:defRPr/>
                      </a:pPr>
                      <a:r>
                        <a:rPr lang="en-US" sz="1050">
                          <a:solidFill>
                            <a:srgbClr val="222B26"/>
                          </a:solidFill>
                          <a:latin typeface="Calibri"/>
                          <a:ea typeface="Calibri"/>
                          <a:cs typeface="Calibri"/>
                        </a:rPr>
                        <a:t>Gemini API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Validate AI recommendation &amp; analysis responses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Structured JSON returned as expected</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r>
              <a:tr h="470916">
                <a:tc>
                  <a:txBody>
                    <a:bodyPr/>
                    <a:p>
                      <a:pPr marL="0" indent="0" algn="l">
                        <a:buNone/>
                        <a:defRPr/>
                      </a:pPr>
                      <a:r>
                        <a:rPr lang="en-US" sz="1050">
                          <a:solidFill>
                            <a:srgbClr val="222B26"/>
                          </a:solidFill>
                          <a:latin typeface="Calibri"/>
                          <a:ea typeface="Calibri"/>
                          <a:cs typeface="Calibri"/>
                        </a:rPr>
                        <a:t>API failure / fallback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Confirm rule-based fallback when Gemini is unavailable</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Fallback advisory generated correctly</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r>
              <a:tr h="470916">
                <a:tc>
                  <a:txBody>
                    <a:bodyPr/>
                    <a:p>
                      <a:pPr marL="0" indent="0" algn="l">
                        <a:buNone/>
                        <a:defRPr/>
                      </a:pPr>
                      <a:r>
                        <a:rPr lang="en-US" sz="1050">
                          <a:solidFill>
                            <a:srgbClr val="222B26"/>
                          </a:solidFill>
                          <a:latin typeface="Calibri"/>
                          <a:ea typeface="Calibri"/>
                          <a:cs typeface="Calibri"/>
                        </a:rPr>
                        <a:t>Route / page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Verify all app routes render without crashing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All routes load correctly</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r>
              <a:tr h="470916">
                <a:tc>
                  <a:txBody>
                    <a:bodyPr/>
                    <a:p>
                      <a:pPr marL="0" indent="0" algn="l">
                        <a:buNone/>
                        <a:defRPr/>
                      </a:pPr>
                      <a:r>
                        <a:rPr lang="en-US" sz="1050">
                          <a:solidFill>
                            <a:srgbClr val="222B26"/>
                          </a:solidFill>
                          <a:latin typeface="Calibri"/>
                          <a:ea typeface="Calibri"/>
                          <a:cs typeface="Calibri"/>
                        </a:rPr>
                        <a:t>Manual UI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Walk through core farmer workflows end-to-end</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Workflows functioned as intended</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r>
              <a:tr h="470916">
                <a:tc>
                  <a:txBody>
                    <a:bodyPr/>
                    <a:p>
                      <a:pPr marL="0" indent="0" algn="l">
                        <a:buNone/>
                        <a:defRPr/>
                      </a:pPr>
                      <a:r>
                        <a:rPr lang="en-US" sz="1050">
                          <a:solidFill>
                            <a:srgbClr val="222B26"/>
                          </a:solidFill>
                          <a:latin typeface="Calibri"/>
                          <a:ea typeface="Calibri"/>
                          <a:cs typeface="Calibri"/>
                        </a:rPr>
                        <a:t>Bangla / English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Verify language switching across screens</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l">
                        <a:buNone/>
                        <a:defRPr/>
                      </a:pPr>
                      <a:r>
                        <a:rPr lang="en-US" sz="1050">
                          <a:solidFill>
                            <a:srgbClr val="222B26"/>
                          </a:solidFill>
                          <a:latin typeface="Calibri"/>
                          <a:ea typeface="Calibri"/>
                          <a:cs typeface="Calibri"/>
                        </a:rPr>
                        <a:t>Interface text switches correctly</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r>
              <a:tr h="470916">
                <a:tc>
                  <a:txBody>
                    <a:bodyPr/>
                    <a:p>
                      <a:pPr marL="0" indent="0" algn="l">
                        <a:buNone/>
                        <a:defRPr/>
                      </a:pPr>
                      <a:r>
                        <a:rPr lang="en-US" sz="1050">
                          <a:solidFill>
                            <a:srgbClr val="222B26"/>
                          </a:solidFill>
                          <a:latin typeface="Calibri"/>
                          <a:ea typeface="Calibri"/>
                          <a:cs typeface="Calibri"/>
                        </a:rPr>
                        <a:t>Responsive / mobile testing</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Confirm layout on target mobile frame</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l">
                        <a:buNone/>
                        <a:defRPr/>
                      </a:pPr>
                      <a:r>
                        <a:rPr lang="en-US" sz="1050">
                          <a:solidFill>
                            <a:srgbClr val="222B26"/>
                          </a:solidFill>
                          <a:latin typeface="Calibri"/>
                          <a:ea typeface="Calibri"/>
                          <a:cs typeface="Calibri"/>
                        </a:rPr>
                        <a:t>Layout displays correctly</a:t>
                      </a:r>
                      <a:endParaRPr lang="en-US" sz="10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r>
            </a:tbl>
          </a:graphicData>
        </a:graphic>
      </p:graphicFrame>
      <p:sp>
        <p:nvSpPr>
          <p:cNvPr id="1420942678" name="Text 2"/>
          <p:cNvSpPr txBox="1"/>
          <p:nvPr/>
        </p:nvSpPr>
        <p:spPr bwMode="auto">
          <a:xfrm>
            <a:off x="548640" y="6236208"/>
            <a:ext cx="7178039" cy="320040"/>
          </a:xfrm>
          <a:prstGeom prst="rect">
            <a:avLst/>
          </a:prstGeom>
          <a:noFill/>
          <a:ln/>
        </p:spPr>
        <p:txBody>
          <a:bodyPr wrap="square" lIns="0" tIns="0" rIns="0" bIns="0" rtlCol="0" anchor="ctr"/>
          <a:lstStyle/>
          <a:p>
            <a:pPr marL="0" indent="0">
              <a:buNone/>
              <a:defRPr/>
            </a:pPr>
            <a:r>
              <a:rPr lang="en-US" sz="1000" i="1">
                <a:solidFill>
                  <a:srgbClr val="5C6B62"/>
                </a:solidFill>
                <a:latin typeface="Calibri"/>
                <a:ea typeface="Calibri"/>
                <a:cs typeface="Calibri"/>
              </a:rPr>
              <a:t>No automated unit-test suite exists yet. Testing was primarily build verification, live API testing, and manual walkthroughs.</a:t>
            </a:r>
            <a:endParaRPr lang="en-US" sz="1000"/>
          </a:p>
        </p:txBody>
      </p:sp>
      <p:sp>
        <p:nvSpPr>
          <p:cNvPr id="1495357624" name="Text 7"/>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117759917" name="Text 8"/>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7</a:t>
            </a:r>
            <a:endParaRPr lang="en-US" sz="900"/>
          </a:p>
        </p:txBody>
      </p:sp>
      <p:pic>
        <p:nvPicPr>
          <p:cNvPr id="71835029" name=""/>
          <p:cNvPicPr>
            <a:picLocks noChangeAspect="1"/>
          </p:cNvPicPr>
          <p:nvPr/>
        </p:nvPicPr>
        <p:blipFill rotWithShape="1">
          <a:blip r:embed="rId3"/>
          <a:stretch/>
        </p:blipFill>
        <p:spPr bwMode="auto">
          <a:xfrm flipH="0" flipV="0">
            <a:off x="7918741" y="1535277"/>
            <a:ext cx="3419818" cy="2017113"/>
          </a:xfrm>
          <a:prstGeom prst="rect">
            <a:avLst/>
          </a:prstGeom>
        </p:spPr>
      </p:pic>
      <p:pic>
        <p:nvPicPr>
          <p:cNvPr id="1950854707" name=""/>
          <p:cNvPicPr>
            <a:picLocks noChangeAspect="1"/>
          </p:cNvPicPr>
          <p:nvPr/>
        </p:nvPicPr>
        <p:blipFill rotWithShape="1">
          <a:blip r:embed="rId4"/>
          <a:stretch/>
        </p:blipFill>
        <p:spPr bwMode="auto">
          <a:xfrm flipH="0" flipV="0">
            <a:off x="7918741" y="3557904"/>
            <a:ext cx="1506450" cy="2983428"/>
          </a:xfrm>
          <a:prstGeom prst="rect">
            <a:avLst/>
          </a:prstGeom>
        </p:spPr>
      </p:pic>
      <p:pic>
        <p:nvPicPr>
          <p:cNvPr id="150714340" name=""/>
          <p:cNvPicPr>
            <a:picLocks noChangeAspect="1"/>
          </p:cNvPicPr>
          <p:nvPr/>
        </p:nvPicPr>
        <p:blipFill rotWithShape="1">
          <a:blip r:embed="rId5"/>
          <a:stretch/>
        </p:blipFill>
        <p:spPr bwMode="auto">
          <a:xfrm flipH="0" flipV="0">
            <a:off x="9547737" y="3557904"/>
            <a:ext cx="1498536" cy="291732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744467334"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REFLECTION</a:t>
            </a:r>
            <a:endParaRPr lang="en-US" sz="1150"/>
          </a:p>
        </p:txBody>
      </p:sp>
      <p:sp>
        <p:nvSpPr>
          <p:cNvPr id="799950737"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Challenges &amp; Solutions</a:t>
            </a:r>
            <a:endParaRPr lang="en-US" sz="2800"/>
          </a:p>
        </p:txBody>
      </p:sp>
      <p:graphicFrame>
        <p:nvGraphicFramePr>
          <p:cNvPr id="85834718" name="Table 0"/>
          <p:cNvGraphicFramePr>
            <a:graphicFrameLocks xmlns:a="http://schemas.openxmlformats.org/drawingml/2006/main" noGrp="1"/>
          </p:cNvGraphicFramePr>
          <p:nvPr/>
        </p:nvGraphicFramePr>
        <p:xfrm rot="0">
          <a:off x="548640" y="1417320"/>
          <a:ext cx="11064240" cy="4709160"/>
        </p:xfrm>
        <a:graphic>
          <a:graphicData uri="http://schemas.openxmlformats.org/drawingml/2006/table">
            <a:tbl>
              <a:tblPr firstRow="0" firstCol="0" lastRow="0" lastCol="0" bandRow="0" bandCol="0"/>
              <a:tblGrid>
                <a:gridCol w="3749040"/>
                <a:gridCol w="5303520"/>
                <a:gridCol w="2011680"/>
              </a:tblGrid>
              <a:tr h="588645">
                <a:tc>
                  <a:txBody>
                    <a:bodyPr/>
                    <a:p>
                      <a:pPr marL="0" indent="0">
                        <a:buNone/>
                        <a:defRPr/>
                      </a:pPr>
                      <a:r>
                        <a:rPr lang="en-US" sz="1150" b="1">
                          <a:solidFill>
                            <a:srgbClr val="FFFFFF"/>
                          </a:solidFill>
                          <a:latin typeface="Calibri"/>
                          <a:ea typeface="Calibri"/>
                          <a:cs typeface="Calibri"/>
                        </a:rPr>
                        <a:t>Challenge</a:t>
                      </a:r>
                      <a:endParaRPr lang="en-US" sz="11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c>
                  <a:txBody>
                    <a:bodyPr/>
                    <a:p>
                      <a:pPr marL="0" indent="0">
                        <a:buNone/>
                        <a:defRPr/>
                      </a:pPr>
                      <a:r>
                        <a:rPr lang="en-US" sz="1150" b="1">
                          <a:solidFill>
                            <a:srgbClr val="FFFFFF"/>
                          </a:solidFill>
                          <a:latin typeface="Calibri"/>
                          <a:ea typeface="Calibri"/>
                          <a:cs typeface="Calibri"/>
                        </a:rPr>
                        <a:t>Solution / Mitigation</a:t>
                      </a:r>
                      <a:endParaRPr lang="en-US" sz="11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c>
                  <a:txBody>
                    <a:bodyPr/>
                    <a:p>
                      <a:pPr marL="0" indent="0">
                        <a:buNone/>
                        <a:defRPr/>
                      </a:pPr>
                      <a:r>
                        <a:rPr lang="en-US" sz="1150" b="1">
                          <a:solidFill>
                            <a:srgbClr val="FFFFFF"/>
                          </a:solidFill>
                          <a:latin typeface="Calibri"/>
                          <a:ea typeface="Calibri"/>
                          <a:cs typeface="Calibri"/>
                        </a:rPr>
                        <a:t>Status</a:t>
                      </a:r>
                      <a:endParaRPr lang="en-US" sz="115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1F4D3A"/>
                    </a:solidFill>
                  </a:tcPr>
                </a:tc>
              </a:tr>
              <a:tr h="588645">
                <a:tc>
                  <a:txBody>
                    <a:bodyPr/>
                    <a:p>
                      <a:pPr marL="0" indent="0">
                        <a:buNone/>
                        <a:defRPr/>
                      </a:pPr>
                      <a:r>
                        <a:rPr lang="en-US" sz="1100" b="1">
                          <a:solidFill>
                            <a:srgbClr val="222B26"/>
                          </a:solidFill>
                          <a:latin typeface="Calibri"/>
                          <a:ea typeface="Calibri"/>
                          <a:cs typeface="Calibri"/>
                        </a:rPr>
                        <a:t>Large project scope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buNone/>
                        <a:defRPr/>
                      </a:pPr>
                      <a:r>
                        <a:rPr lang="en-US" sz="1100">
                          <a:solidFill>
                            <a:srgbClr val="222B26"/>
                          </a:solidFill>
                          <a:latin typeface="Calibri"/>
                          <a:ea typeface="Calibri"/>
                          <a:cs typeface="Calibri"/>
                        </a:rPr>
                        <a:t>Prioritized the Farmer-side implementation</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ctr">
                        <a:buNone/>
                        <a:defRPr/>
                      </a:pPr>
                      <a:r>
                        <a:rPr lang="en-US" sz="1100" b="1">
                          <a:solidFill>
                            <a:srgbClr val="FFFFFF"/>
                          </a:solidFill>
                          <a:latin typeface="Calibri"/>
                          <a:ea typeface="Calibri"/>
                          <a:cs typeface="Calibri"/>
                        </a:rPr>
                        <a:t>Solved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3E7A5C"/>
                    </a:solidFill>
                  </a:tcPr>
                </a:tc>
              </a:tr>
              <a:tr h="588645">
                <a:tc>
                  <a:txBody>
                    <a:bodyPr/>
                    <a:p>
                      <a:pPr marL="0" indent="0">
                        <a:buNone/>
                        <a:defRPr/>
                      </a:pPr>
                      <a:r>
                        <a:rPr lang="en-US" sz="1100" b="1">
                          <a:solidFill>
                            <a:srgbClr val="222B26"/>
                          </a:solidFill>
                          <a:latin typeface="Calibri"/>
                          <a:ea typeface="Calibri"/>
                          <a:cs typeface="Calibri"/>
                        </a:rPr>
                        <a:t>Limited development time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buNone/>
                        <a:defRPr/>
                      </a:pPr>
                      <a:r>
                        <a:rPr lang="en-US" sz="1100">
                          <a:solidFill>
                            <a:srgbClr val="222B26"/>
                          </a:solidFill>
                          <a:latin typeface="Calibri"/>
                          <a:ea typeface="Calibri"/>
                          <a:cs typeface="Calibri"/>
                        </a:rPr>
                        <a:t>Focused effort on the core farmer workflow</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ctr">
                        <a:buNone/>
                        <a:defRPr/>
                      </a:pPr>
                      <a:r>
                        <a:rPr lang="en-US" sz="1100" b="1">
                          <a:solidFill>
                            <a:srgbClr val="FFFFFF"/>
                          </a:solidFill>
                          <a:latin typeface="Calibri"/>
                          <a:ea typeface="Calibri"/>
                          <a:cs typeface="Calibri"/>
                        </a:rPr>
                        <a:t>Solved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3E7A5C"/>
                    </a:solidFill>
                  </a:tcPr>
                </a:tc>
              </a:tr>
              <a:tr h="588645">
                <a:tc>
                  <a:txBody>
                    <a:bodyPr/>
                    <a:p>
                      <a:pPr marL="0" indent="0">
                        <a:buNone/>
                        <a:defRPr/>
                      </a:pPr>
                      <a:r>
                        <a:rPr lang="en-US" sz="1100" b="1">
                          <a:solidFill>
                            <a:srgbClr val="222B26"/>
                          </a:solidFill>
                          <a:latin typeface="Calibri"/>
                          <a:ea typeface="Calibri"/>
                          <a:cs typeface="Calibri"/>
                        </a:rPr>
                        <a:t>Backend not completed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buNone/>
                        <a:defRPr/>
                      </a:pPr>
                      <a:r>
                        <a:rPr lang="en-US" sz="1100">
                          <a:solidFill>
                            <a:srgbClr val="222B26"/>
                          </a:solidFill>
                          <a:latin typeface="Calibri"/>
                          <a:ea typeface="Calibri"/>
                          <a:cs typeface="Calibri"/>
                        </a:rPr>
                        <a:t>Continued with frontend + direct API integrations</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ctr">
                        <a:buNone/>
                        <a:defRPr/>
                      </a:pPr>
                      <a:r>
                        <a:rPr lang="en-US" sz="1100" b="1">
                          <a:solidFill>
                            <a:srgbClr val="FFFFFF"/>
                          </a:solidFill>
                          <a:latin typeface="Calibri"/>
                          <a:ea typeface="Calibri"/>
                          <a:cs typeface="Calibri"/>
                        </a:rPr>
                        <a:t>Future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B3492F"/>
                    </a:solidFill>
                  </a:tcPr>
                </a:tc>
              </a:tr>
              <a:tr h="588645">
                <a:tc>
                  <a:txBody>
                    <a:bodyPr/>
                    <a:p>
                      <a:pPr marL="0" indent="0">
                        <a:buNone/>
                        <a:defRPr/>
                      </a:pPr>
                      <a:r>
                        <a:rPr lang="en-US" sz="1100" b="1">
                          <a:solidFill>
                            <a:srgbClr val="222B26"/>
                          </a:solidFill>
                          <a:latin typeface="Calibri"/>
                          <a:ea typeface="Calibri"/>
                          <a:cs typeface="Calibri"/>
                        </a:rPr>
                        <a:t>External API reliability</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buNone/>
                        <a:defRPr/>
                      </a:pPr>
                      <a:r>
                        <a:rPr lang="en-US" sz="1100">
                          <a:solidFill>
                            <a:srgbClr val="222B26"/>
                          </a:solidFill>
                          <a:latin typeface="Calibri"/>
                          <a:ea typeface="Calibri"/>
                          <a:cs typeface="Calibri"/>
                        </a:rPr>
                        <a:t>Added error handling and fallback mechanisms</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ctr">
                        <a:buNone/>
                        <a:defRPr/>
                      </a:pPr>
                      <a:r>
                        <a:rPr lang="en-US" sz="1100" b="1">
                          <a:solidFill>
                            <a:srgbClr val="FFFFFF"/>
                          </a:solidFill>
                          <a:latin typeface="Calibri"/>
                          <a:ea typeface="Calibri"/>
                          <a:cs typeface="Calibri"/>
                        </a:rPr>
                        <a:t>Solved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3E7A5C"/>
                    </a:solidFill>
                  </a:tcPr>
                </a:tc>
              </a:tr>
              <a:tr h="588645">
                <a:tc>
                  <a:txBody>
                    <a:bodyPr/>
                    <a:p>
                      <a:pPr marL="0" indent="0">
                        <a:buNone/>
                        <a:defRPr/>
                      </a:pPr>
                      <a:r>
                        <a:rPr lang="en-US" sz="1100" b="1">
                          <a:solidFill>
                            <a:srgbClr val="222B26"/>
                          </a:solidFill>
                          <a:latin typeface="Calibri"/>
                          <a:ea typeface="Calibri"/>
                          <a:cs typeface="Calibri"/>
                        </a:rPr>
                        <a:t>React / runtime data errors</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buNone/>
                        <a:defRPr/>
                      </a:pPr>
                      <a:r>
                        <a:rPr lang="en-US" sz="1100">
                          <a:solidFill>
                            <a:srgbClr val="222B26"/>
                          </a:solidFill>
                          <a:latin typeface="Calibri"/>
                          <a:ea typeface="Calibri"/>
                          <a:cs typeface="Calibri"/>
                        </a:rPr>
                        <a:t>Defensive data handling and fallback UI states</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ctr">
                        <a:buNone/>
                        <a:defRPr/>
                      </a:pPr>
                      <a:r>
                        <a:rPr lang="en-US" sz="1100" b="1">
                          <a:solidFill>
                            <a:srgbClr val="FFFFFF"/>
                          </a:solidFill>
                          <a:latin typeface="Calibri"/>
                          <a:ea typeface="Calibri"/>
                          <a:cs typeface="Calibri"/>
                        </a:rPr>
                        <a:t>Solved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3E7A5C"/>
                    </a:solidFill>
                  </a:tcPr>
                </a:tc>
              </a:tr>
              <a:tr h="588645">
                <a:tc>
                  <a:txBody>
                    <a:bodyPr/>
                    <a:p>
                      <a:pPr marL="0" indent="0">
                        <a:buNone/>
                        <a:defRPr/>
                      </a:pPr>
                      <a:r>
                        <a:rPr lang="en-US" sz="1100" b="1">
                          <a:solidFill>
                            <a:srgbClr val="222B26"/>
                          </a:solidFill>
                          <a:latin typeface="Calibri"/>
                          <a:ea typeface="Calibri"/>
                          <a:cs typeface="Calibri"/>
                        </a:rPr>
                        <a:t>IoT hardware unavailable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buNone/>
                        <a:defRPr/>
                      </a:pPr>
                      <a:r>
                        <a:rPr lang="en-US" sz="1100">
                          <a:solidFill>
                            <a:srgbClr val="222B26"/>
                          </a:solidFill>
                          <a:latin typeface="Calibri"/>
                          <a:ea typeface="Calibri"/>
                          <a:cs typeface="Calibri"/>
                        </a:rPr>
                        <a:t>Built a simulated farm-monitoring prototype</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FFFFF"/>
                    </a:solidFill>
                  </a:tcPr>
                </a:tc>
                <a:tc>
                  <a:txBody>
                    <a:bodyPr/>
                    <a:p>
                      <a:pPr marL="0" indent="0" algn="ctr">
                        <a:buNone/>
                        <a:defRPr/>
                      </a:pPr>
                      <a:r>
                        <a:rPr lang="en-US" sz="1100" b="1">
                          <a:solidFill>
                            <a:srgbClr val="FFFFFF"/>
                          </a:solidFill>
                          <a:latin typeface="Calibri"/>
                          <a:ea typeface="Calibri"/>
                          <a:cs typeface="Calibri"/>
                        </a:rPr>
                        <a:t>Partial</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B8792E"/>
                    </a:solidFill>
                  </a:tcPr>
                </a:tc>
              </a:tr>
              <a:tr h="588645">
                <a:tc>
                  <a:txBody>
                    <a:bodyPr/>
                    <a:p>
                      <a:pPr marL="0" indent="0">
                        <a:buNone/>
                        <a:defRPr/>
                      </a:pPr>
                      <a:r>
                        <a:rPr lang="en-US" sz="1100" b="1">
                          <a:solidFill>
                            <a:srgbClr val="222B26"/>
                          </a:solidFill>
                          <a:latin typeface="Calibri"/>
                          <a:ea typeface="Calibri"/>
                          <a:cs typeface="Calibri"/>
                        </a:rPr>
                        <a:t>Team &amp; shared-repository coordination</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buNone/>
                        <a:defRPr/>
                      </a:pPr>
                      <a:r>
                        <a:rPr lang="en-US" sz="1100">
                          <a:solidFill>
                            <a:srgbClr val="222B26"/>
                          </a:solidFill>
                          <a:latin typeface="Calibri"/>
                          <a:ea typeface="Calibri"/>
                          <a:cs typeface="Calibri"/>
                        </a:rPr>
                        <a:t>Collaborative workflow with a centralized final GitHub push</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F5F8F3"/>
                    </a:solidFill>
                  </a:tcPr>
                </a:tc>
                <a:tc>
                  <a:txBody>
                    <a:bodyPr/>
                    <a:p>
                      <a:pPr marL="0" indent="0" algn="ctr">
                        <a:buNone/>
                        <a:defRPr/>
                      </a:pPr>
                      <a:r>
                        <a:rPr lang="en-US" sz="1100" b="1">
                          <a:solidFill>
                            <a:srgbClr val="FFFFFF"/>
                          </a:solidFill>
                          <a:latin typeface="Calibri"/>
                          <a:ea typeface="Calibri"/>
                          <a:cs typeface="Calibri"/>
                        </a:rPr>
                        <a:t>Solved</a:t>
                      </a:r>
                      <a:endParaRPr lang="en-US" sz="1100">
                        <a:latin typeface="Calibri"/>
                        <a:ea typeface="Calibri"/>
                        <a:cs typeface="Calibri"/>
                      </a:endParaRPr>
                    </a:p>
                  </a:txBody>
                  <a:tcPr marL="91440" marR="91440" marT="45720" marB="45720" anchor="ctr">
                    <a:lnL w="9525" algn="ctr">
                      <a:solidFill>
                        <a:srgbClr val="DCE3D8"/>
                      </a:solidFill>
                    </a:lnL>
                    <a:lnR w="9525" algn="ctr">
                      <a:solidFill>
                        <a:srgbClr val="DCE3D8"/>
                      </a:solidFill>
                    </a:lnR>
                    <a:lnT w="9525" algn="ctr">
                      <a:solidFill>
                        <a:srgbClr val="DCE3D8"/>
                      </a:solidFill>
                    </a:lnT>
                    <a:lnB w="9525" algn="ctr">
                      <a:solidFill>
                        <a:srgbClr val="DCE3D8"/>
                      </a:solidFill>
                    </a:lnB>
                    <a:solidFill>
                      <a:srgbClr val="3E7A5C"/>
                    </a:solidFill>
                  </a:tcPr>
                </a:tc>
              </a:tr>
            </a:tbl>
          </a:graphicData>
        </a:graphic>
      </p:graphicFrame>
      <p:sp>
        <p:nvSpPr>
          <p:cNvPr id="413920708" name="Text 2"/>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2058507017" name="Text 3"/>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1915011831"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RESULTS</a:t>
            </a:r>
            <a:endParaRPr lang="en-US" sz="1150"/>
          </a:p>
        </p:txBody>
      </p:sp>
      <p:sp>
        <p:nvSpPr>
          <p:cNvPr id="711797126"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What We Actually Achieved</a:t>
            </a:r>
            <a:endParaRPr lang="en-US" sz="2800"/>
          </a:p>
        </p:txBody>
      </p:sp>
      <p:sp>
        <p:nvSpPr>
          <p:cNvPr id="201302505" name="Shape 2"/>
          <p:cNvSpPr/>
          <p:nvPr/>
        </p:nvSpPr>
        <p:spPr bwMode="auto">
          <a:xfrm>
            <a:off x="548640" y="1371600"/>
            <a:ext cx="3383280" cy="1234440"/>
          </a:xfrm>
          <a:prstGeom prst="roundRect">
            <a:avLst>
              <a:gd name="adj" fmla="val 6667"/>
            </a:avLst>
          </a:prstGeom>
          <a:solidFill>
            <a:srgbClr val="F1F2EF"/>
          </a:solidFill>
          <a:ln/>
        </p:spPr>
      </p:sp>
      <p:sp>
        <p:nvSpPr>
          <p:cNvPr id="375358589" name="Text 3"/>
          <p:cNvSpPr txBox="1"/>
          <p:nvPr/>
        </p:nvSpPr>
        <p:spPr bwMode="auto">
          <a:xfrm>
            <a:off x="777240" y="1481328"/>
            <a:ext cx="2926080" cy="274320"/>
          </a:xfrm>
          <a:prstGeom prst="rect">
            <a:avLst/>
          </a:prstGeom>
          <a:noFill/>
          <a:ln/>
        </p:spPr>
        <p:txBody>
          <a:bodyPr wrap="square" lIns="0" tIns="0" rIns="0" bIns="0" rtlCol="0" anchor="ctr"/>
          <a:lstStyle/>
          <a:p>
            <a:pPr marL="0" indent="0">
              <a:buNone/>
              <a:defRPr/>
            </a:pPr>
            <a:r>
              <a:rPr lang="en-US" sz="1050" b="1" spc="100">
                <a:solidFill>
                  <a:srgbClr val="5C6B62"/>
                </a:solidFill>
                <a:latin typeface="Calibri"/>
                <a:ea typeface="Calibri"/>
                <a:cs typeface="Calibri"/>
              </a:rPr>
              <a:t>PLANNED</a:t>
            </a:r>
            <a:endParaRPr lang="en-US" sz="1050"/>
          </a:p>
        </p:txBody>
      </p:sp>
      <p:sp>
        <p:nvSpPr>
          <p:cNvPr id="2122975010" name="Text 4"/>
          <p:cNvSpPr txBox="1"/>
          <p:nvPr/>
        </p:nvSpPr>
        <p:spPr bwMode="auto">
          <a:xfrm>
            <a:off x="777240" y="1691640"/>
            <a:ext cx="1280160" cy="685800"/>
          </a:xfrm>
          <a:prstGeom prst="rect">
            <a:avLst/>
          </a:prstGeom>
          <a:noFill/>
          <a:ln/>
        </p:spPr>
        <p:txBody>
          <a:bodyPr wrap="square" lIns="0" tIns="0" rIns="0" bIns="0" rtlCol="0" anchor="ctr"/>
          <a:lstStyle/>
          <a:p>
            <a:pPr marL="0" indent="0">
              <a:buNone/>
              <a:defRPr/>
            </a:pPr>
            <a:r>
              <a:rPr lang="en-US" sz="4400" b="1">
                <a:solidFill>
                  <a:srgbClr val="5C6B62"/>
                </a:solidFill>
                <a:latin typeface="Cambria"/>
                <a:ea typeface="Cambria"/>
                <a:cs typeface="Cambria"/>
              </a:rPr>
              <a:t>6</a:t>
            </a:r>
            <a:endParaRPr lang="en-US" sz="4400"/>
          </a:p>
        </p:txBody>
      </p:sp>
      <p:sp>
        <p:nvSpPr>
          <p:cNvPr id="455429586" name="Text 5"/>
          <p:cNvSpPr txBox="1"/>
          <p:nvPr/>
        </p:nvSpPr>
        <p:spPr bwMode="auto">
          <a:xfrm>
            <a:off x="1965960" y="1783080"/>
            <a:ext cx="1874520" cy="685800"/>
          </a:xfrm>
          <a:prstGeom prst="rect">
            <a:avLst/>
          </a:prstGeom>
          <a:noFill/>
          <a:ln/>
        </p:spPr>
        <p:txBody>
          <a:bodyPr wrap="square" lIns="0" tIns="0" rIns="0" bIns="0" rtlCol="0" anchor="ctr"/>
          <a:lstStyle/>
          <a:p>
            <a:pPr marL="0" indent="0">
              <a:lnSpc>
                <a:spcPct val="105000"/>
              </a:lnSpc>
              <a:buNone/>
              <a:defRPr/>
            </a:pPr>
            <a:r>
              <a:rPr lang="en-US" sz="1100">
                <a:solidFill>
                  <a:srgbClr val="222B26"/>
                </a:solidFill>
                <a:latin typeface="Calibri"/>
                <a:ea typeface="Calibri"/>
                <a:cs typeface="Calibri"/>
              </a:rPr>
              <a:t>Stakeholder</a:t>
            </a:r>
            <a:endParaRPr lang="en-US" sz="1100"/>
          </a:p>
          <a:p>
            <a:pPr marL="0" indent="0">
              <a:lnSpc>
                <a:spcPct val="105000"/>
              </a:lnSpc>
              <a:buNone/>
              <a:defRPr/>
            </a:pPr>
            <a:r>
              <a:rPr lang="en-US" sz="1100">
                <a:solidFill>
                  <a:srgbClr val="222B26"/>
                </a:solidFill>
                <a:latin typeface="Calibri"/>
                <a:ea typeface="Calibri"/>
                <a:cs typeface="Calibri"/>
              </a:rPr>
              <a:t>Ecosystem</a:t>
            </a:r>
            <a:endParaRPr lang="en-US" sz="1100"/>
          </a:p>
        </p:txBody>
      </p:sp>
      <p:sp>
        <p:nvSpPr>
          <p:cNvPr id="1725842881" name="Shape 6"/>
          <p:cNvSpPr/>
          <p:nvPr/>
        </p:nvSpPr>
        <p:spPr bwMode="auto">
          <a:xfrm>
            <a:off x="4160519" y="1371600"/>
            <a:ext cx="3383280" cy="1234440"/>
          </a:xfrm>
          <a:prstGeom prst="roundRect">
            <a:avLst>
              <a:gd name="adj" fmla="val 6667"/>
            </a:avLst>
          </a:prstGeom>
          <a:solidFill>
            <a:srgbClr val="1F4D3A"/>
          </a:solidFill>
          <a:ln/>
        </p:spPr>
      </p:sp>
      <p:sp>
        <p:nvSpPr>
          <p:cNvPr id="1480129124" name="Text 7"/>
          <p:cNvSpPr txBox="1"/>
          <p:nvPr/>
        </p:nvSpPr>
        <p:spPr bwMode="auto">
          <a:xfrm>
            <a:off x="4389120" y="1481328"/>
            <a:ext cx="2926080" cy="274320"/>
          </a:xfrm>
          <a:prstGeom prst="rect">
            <a:avLst/>
          </a:prstGeom>
          <a:noFill/>
          <a:ln/>
        </p:spPr>
        <p:txBody>
          <a:bodyPr wrap="square" lIns="0" tIns="0" rIns="0" bIns="0" rtlCol="0" anchor="ctr"/>
          <a:lstStyle/>
          <a:p>
            <a:pPr marL="0" indent="0">
              <a:buNone/>
              <a:defRPr/>
            </a:pPr>
            <a:r>
              <a:rPr lang="en-US" sz="1050" b="1" spc="100">
                <a:solidFill>
                  <a:srgbClr val="B8792E"/>
                </a:solidFill>
                <a:latin typeface="Calibri"/>
                <a:ea typeface="Calibri"/>
                <a:cs typeface="Calibri"/>
              </a:rPr>
              <a:t>ACHIEVED</a:t>
            </a:r>
            <a:endParaRPr lang="en-US" sz="1050"/>
          </a:p>
        </p:txBody>
      </p:sp>
      <p:sp>
        <p:nvSpPr>
          <p:cNvPr id="467438581" name="Text 8"/>
          <p:cNvSpPr txBox="1"/>
          <p:nvPr/>
        </p:nvSpPr>
        <p:spPr bwMode="auto">
          <a:xfrm>
            <a:off x="4389120" y="1691640"/>
            <a:ext cx="1280160" cy="685800"/>
          </a:xfrm>
          <a:prstGeom prst="rect">
            <a:avLst/>
          </a:prstGeom>
          <a:noFill/>
          <a:ln/>
        </p:spPr>
        <p:txBody>
          <a:bodyPr wrap="square" lIns="0" tIns="0" rIns="0" bIns="0" rtlCol="0" anchor="ctr"/>
          <a:lstStyle/>
          <a:p>
            <a:pPr marL="0" indent="0">
              <a:buNone/>
              <a:defRPr/>
            </a:pPr>
            <a:r>
              <a:rPr lang="en-US" sz="4400" b="1">
                <a:solidFill>
                  <a:srgbClr val="FFFFFF"/>
                </a:solidFill>
                <a:latin typeface="Cambria"/>
                <a:ea typeface="Cambria"/>
                <a:cs typeface="Cambria"/>
              </a:rPr>
              <a:t>1</a:t>
            </a:r>
            <a:endParaRPr lang="en-US" sz="4400"/>
          </a:p>
        </p:txBody>
      </p:sp>
      <p:sp>
        <p:nvSpPr>
          <p:cNvPr id="1136375288" name="Text 9"/>
          <p:cNvSpPr txBox="1"/>
          <p:nvPr/>
        </p:nvSpPr>
        <p:spPr bwMode="auto">
          <a:xfrm>
            <a:off x="5577840" y="1783080"/>
            <a:ext cx="1874520" cy="685800"/>
          </a:xfrm>
          <a:prstGeom prst="rect">
            <a:avLst/>
          </a:prstGeom>
          <a:noFill/>
          <a:ln/>
        </p:spPr>
        <p:txBody>
          <a:bodyPr wrap="square" lIns="0" tIns="0" rIns="0" bIns="0" rtlCol="0" anchor="ctr"/>
          <a:lstStyle/>
          <a:p>
            <a:pPr marL="0" indent="0">
              <a:lnSpc>
                <a:spcPct val="105000"/>
              </a:lnSpc>
              <a:buNone/>
              <a:defRPr/>
            </a:pPr>
            <a:r>
              <a:rPr lang="en-US" sz="1050">
                <a:solidFill>
                  <a:srgbClr val="FFFFFF"/>
                </a:solidFill>
                <a:latin typeface="Calibri"/>
                <a:ea typeface="Calibri"/>
                <a:cs typeface="Calibri"/>
              </a:rPr>
              <a:t>Fully-Developed</a:t>
            </a:r>
            <a:endParaRPr lang="en-US" sz="1050"/>
          </a:p>
          <a:p>
            <a:pPr marL="0" indent="0">
              <a:lnSpc>
                <a:spcPct val="105000"/>
              </a:lnSpc>
              <a:buNone/>
              <a:defRPr/>
            </a:pPr>
            <a:r>
              <a:rPr lang="en-US" sz="1050">
                <a:solidFill>
                  <a:srgbClr val="FFFFFF"/>
                </a:solidFill>
                <a:latin typeface="Calibri"/>
                <a:ea typeface="Calibri"/>
                <a:cs typeface="Calibri"/>
              </a:rPr>
              <a:t>Stakeholder — FARMER</a:t>
            </a:r>
            <a:endParaRPr lang="en-US" sz="1050"/>
          </a:p>
        </p:txBody>
      </p:sp>
      <p:sp>
        <p:nvSpPr>
          <p:cNvPr id="2027880594" name="Shape 10"/>
          <p:cNvSpPr/>
          <p:nvPr/>
        </p:nvSpPr>
        <p:spPr bwMode="auto">
          <a:xfrm>
            <a:off x="7772400" y="1371600"/>
            <a:ext cx="3840480" cy="1234440"/>
          </a:xfrm>
          <a:prstGeom prst="roundRect">
            <a:avLst>
              <a:gd name="adj" fmla="val 6667"/>
            </a:avLst>
          </a:prstGeom>
          <a:solidFill>
            <a:srgbClr val="F4E6CE"/>
          </a:solidFill>
          <a:ln/>
        </p:spPr>
      </p:sp>
      <p:sp>
        <p:nvSpPr>
          <p:cNvPr id="551210471" name="Text 11"/>
          <p:cNvSpPr txBox="1"/>
          <p:nvPr/>
        </p:nvSpPr>
        <p:spPr bwMode="auto">
          <a:xfrm>
            <a:off x="8001000" y="1463040"/>
            <a:ext cx="2926080" cy="256032"/>
          </a:xfrm>
          <a:prstGeom prst="rect">
            <a:avLst/>
          </a:prstGeom>
          <a:noFill/>
          <a:ln/>
        </p:spPr>
        <p:txBody>
          <a:bodyPr wrap="square" lIns="0" tIns="0" rIns="0" bIns="0" rtlCol="0" anchor="ctr"/>
          <a:lstStyle/>
          <a:p>
            <a:pPr marL="0" indent="0">
              <a:buNone/>
              <a:defRPr/>
            </a:pPr>
            <a:r>
              <a:rPr lang="en-US" sz="1050" b="1" spc="100">
                <a:solidFill>
                  <a:srgbClr val="B8792E"/>
                </a:solidFill>
                <a:latin typeface="Calibri"/>
                <a:ea typeface="Calibri"/>
                <a:cs typeface="Calibri"/>
              </a:rPr>
              <a:t>WITH</a:t>
            </a:r>
            <a:endParaRPr lang="en-US" sz="1050"/>
          </a:p>
        </p:txBody>
      </p:sp>
      <p:sp>
        <p:nvSpPr>
          <p:cNvPr id="164134689" name="Text 12"/>
          <p:cNvSpPr txBox="1"/>
          <p:nvPr/>
        </p:nvSpPr>
        <p:spPr bwMode="auto">
          <a:xfrm>
            <a:off x="8001000" y="1755648"/>
            <a:ext cx="3429000" cy="731520"/>
          </a:xfrm>
          <a:prstGeom prst="rect">
            <a:avLst/>
          </a:prstGeom>
          <a:noFill/>
          <a:ln/>
        </p:spPr>
        <p:txBody>
          <a:bodyPr wrap="square" lIns="0" tIns="0" rIns="0" bIns="0" rtlCol="0" anchor="ctr"/>
          <a:lstStyle/>
          <a:p>
            <a:pPr marL="0" indent="0">
              <a:lnSpc>
                <a:spcPct val="135000"/>
              </a:lnSpc>
              <a:buNone/>
              <a:defRPr/>
            </a:pPr>
            <a:r>
              <a:rPr lang="en-US" sz="1050" b="1">
                <a:solidFill>
                  <a:srgbClr val="222B26"/>
                </a:solidFill>
                <a:latin typeface="Calibri"/>
                <a:ea typeface="Calibri"/>
                <a:cs typeface="Calibri"/>
              </a:rPr>
              <a:t>AI Guidance  •  Live Weather  •  Farm Management</a:t>
            </a:r>
            <a:endParaRPr lang="en-US" sz="1050"/>
          </a:p>
          <a:p>
            <a:pPr marL="0" indent="0">
              <a:lnSpc>
                <a:spcPct val="135000"/>
              </a:lnSpc>
              <a:buNone/>
              <a:defRPr/>
            </a:pPr>
            <a:r>
              <a:rPr lang="en-US" sz="1050" b="1">
                <a:solidFill>
                  <a:srgbClr val="222B26"/>
                </a:solidFill>
                <a:latin typeface="Calibri"/>
                <a:ea typeface="Calibri"/>
                <a:cs typeface="Calibri"/>
              </a:rPr>
              <a:t>Monitoring  •  Marketplace  •  Seasonal Planning</a:t>
            </a:r>
            <a:endParaRPr lang="en-US" sz="1050"/>
          </a:p>
        </p:txBody>
      </p:sp>
      <p:sp>
        <p:nvSpPr>
          <p:cNvPr id="1579416038" name="Text 13"/>
          <p:cNvSpPr txBox="1"/>
          <p:nvPr/>
        </p:nvSpPr>
        <p:spPr bwMode="auto">
          <a:xfrm>
            <a:off x="548640" y="2816352"/>
            <a:ext cx="5486400" cy="274320"/>
          </a:xfrm>
          <a:prstGeom prst="rect">
            <a:avLst/>
          </a:prstGeom>
          <a:noFill/>
          <a:ln/>
        </p:spPr>
        <p:txBody>
          <a:bodyPr wrap="square" lIns="0" tIns="0" rIns="0" bIns="0" rtlCol="0" anchor="ctr"/>
          <a:lstStyle/>
          <a:p>
            <a:pPr marL="0" indent="0">
              <a:buNone/>
              <a:defRPr/>
            </a:pPr>
            <a:r>
              <a:rPr lang="en-US" sz="1100" b="1" spc="150">
                <a:solidFill>
                  <a:srgbClr val="1F4D3A"/>
                </a:solidFill>
                <a:latin typeface="Calibri"/>
                <a:ea typeface="Calibri"/>
                <a:cs typeface="Calibri"/>
              </a:rPr>
              <a:t>APPLICATION SCREENS</a:t>
            </a:r>
            <a:endParaRPr lang="en-US" sz="1100"/>
          </a:p>
        </p:txBody>
      </p:sp>
      <p:sp>
        <p:nvSpPr>
          <p:cNvPr id="915887380" name="Text 26"/>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498054692" name="Text 27"/>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9</a:t>
            </a:r>
            <a:endParaRPr lang="en-US" sz="900"/>
          </a:p>
        </p:txBody>
      </p:sp>
      <p:pic>
        <p:nvPicPr>
          <p:cNvPr id="732230791" name=""/>
          <p:cNvPicPr>
            <a:picLocks noChangeAspect="1"/>
          </p:cNvPicPr>
          <p:nvPr/>
        </p:nvPicPr>
        <p:blipFill rotWithShape="1">
          <a:blip r:embed="rId3"/>
          <a:stretch/>
        </p:blipFill>
        <p:spPr bwMode="auto">
          <a:xfrm flipH="0" flipV="0">
            <a:off x="539322" y="3151163"/>
            <a:ext cx="1703437" cy="3286809"/>
          </a:xfrm>
          <a:prstGeom prst="rect">
            <a:avLst/>
          </a:prstGeom>
        </p:spPr>
      </p:pic>
      <p:pic>
        <p:nvPicPr>
          <p:cNvPr id="885810893" name=""/>
          <p:cNvPicPr>
            <a:picLocks noChangeAspect="1"/>
          </p:cNvPicPr>
          <p:nvPr/>
        </p:nvPicPr>
        <p:blipFill rotWithShape="1">
          <a:blip r:embed="rId4"/>
          <a:stretch/>
        </p:blipFill>
        <p:spPr bwMode="auto">
          <a:xfrm flipH="0" flipV="0">
            <a:off x="2407196" y="3151163"/>
            <a:ext cx="1685922" cy="3286809"/>
          </a:xfrm>
          <a:prstGeom prst="rect">
            <a:avLst/>
          </a:prstGeom>
        </p:spPr>
      </p:pic>
      <p:pic>
        <p:nvPicPr>
          <p:cNvPr id="1253711916" name=""/>
          <p:cNvPicPr>
            <a:picLocks noChangeAspect="1"/>
          </p:cNvPicPr>
          <p:nvPr/>
        </p:nvPicPr>
        <p:blipFill rotWithShape="1">
          <a:blip r:embed="rId5"/>
          <a:stretch/>
        </p:blipFill>
        <p:spPr bwMode="auto">
          <a:xfrm flipH="0" flipV="0">
            <a:off x="4309648" y="3151163"/>
            <a:ext cx="1695439" cy="3311758"/>
          </a:xfrm>
          <a:prstGeom prst="rect">
            <a:avLst/>
          </a:prstGeom>
        </p:spPr>
      </p:pic>
      <p:pic>
        <p:nvPicPr>
          <p:cNvPr id="600149790" name=""/>
          <p:cNvPicPr>
            <a:picLocks noChangeAspect="1"/>
          </p:cNvPicPr>
          <p:nvPr/>
        </p:nvPicPr>
        <p:blipFill rotWithShape="1">
          <a:blip r:embed="rId6"/>
          <a:stretch/>
        </p:blipFill>
        <p:spPr bwMode="auto">
          <a:xfrm flipH="0" flipV="0">
            <a:off x="6269833" y="3151163"/>
            <a:ext cx="1716506" cy="3311758"/>
          </a:xfrm>
          <a:prstGeom prst="rect">
            <a:avLst/>
          </a:prstGeom>
        </p:spPr>
      </p:pic>
      <p:pic>
        <p:nvPicPr>
          <p:cNvPr id="353118773" name=""/>
          <p:cNvPicPr>
            <a:picLocks noChangeAspect="1"/>
          </p:cNvPicPr>
          <p:nvPr/>
        </p:nvPicPr>
        <p:blipFill rotWithShape="1">
          <a:blip r:embed="rId7"/>
          <a:stretch/>
        </p:blipFill>
        <p:spPr bwMode="auto">
          <a:xfrm flipH="0" flipV="0">
            <a:off x="8215245" y="3141888"/>
            <a:ext cx="1715785" cy="3351679"/>
          </a:xfrm>
          <a:prstGeom prst="rect">
            <a:avLst/>
          </a:prstGeom>
        </p:spPr>
      </p:pic>
      <p:pic>
        <p:nvPicPr>
          <p:cNvPr id="1284298172" name=""/>
          <p:cNvPicPr>
            <a:picLocks noChangeAspect="1"/>
          </p:cNvPicPr>
          <p:nvPr/>
        </p:nvPicPr>
        <p:blipFill rotWithShape="1">
          <a:blip r:embed="rId8"/>
          <a:stretch/>
        </p:blipFill>
        <p:spPr bwMode="auto">
          <a:xfrm flipH="0" flipV="0">
            <a:off x="10148581" y="3151163"/>
            <a:ext cx="1718732" cy="33424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680795971"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LOOKING AHEAD</a:t>
            </a:r>
            <a:endParaRPr lang="en-US" sz="1150"/>
          </a:p>
        </p:txBody>
      </p:sp>
      <p:sp>
        <p:nvSpPr>
          <p:cNvPr id="1065780947"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Limitations &amp; Future Scope</a:t>
            </a:r>
            <a:endParaRPr lang="en-US" sz="2800"/>
          </a:p>
        </p:txBody>
      </p:sp>
      <p:sp>
        <p:nvSpPr>
          <p:cNvPr id="1267504119" name="Shape 2"/>
          <p:cNvSpPr/>
          <p:nvPr/>
        </p:nvSpPr>
        <p:spPr bwMode="auto">
          <a:xfrm>
            <a:off x="548640" y="1417320"/>
            <a:ext cx="5349240" cy="4846320"/>
          </a:xfrm>
          <a:prstGeom prst="roundRect">
            <a:avLst>
              <a:gd name="adj" fmla="val 1698"/>
            </a:avLst>
          </a:prstGeom>
          <a:solidFill>
            <a:srgbClr val="F6E2DC"/>
          </a:solidFill>
          <a:ln/>
        </p:spPr>
      </p:sp>
      <p:sp>
        <p:nvSpPr>
          <p:cNvPr id="2122096633" name="Shape 3"/>
          <p:cNvSpPr/>
          <p:nvPr/>
        </p:nvSpPr>
        <p:spPr bwMode="auto">
          <a:xfrm>
            <a:off x="804672" y="1673352"/>
            <a:ext cx="502920" cy="502920"/>
          </a:xfrm>
          <a:prstGeom prst="ellipse">
            <a:avLst/>
          </a:prstGeom>
          <a:solidFill>
            <a:srgbClr val="B3492F"/>
          </a:solidFill>
          <a:ln/>
        </p:spPr>
      </p:sp>
      <p:pic>
        <p:nvPicPr>
          <p:cNvPr id="940902861" name="Image 0" descr="/home/claude/work/krishibazar_deck_project/icons/alert_white.png"/>
          <p:cNvPicPr>
            <a:picLocks noChangeAspect="1"/>
          </p:cNvPicPr>
          <p:nvPr/>
        </p:nvPicPr>
        <p:blipFill rotWithShape="1">
          <a:blip r:embed="rId3"/>
          <a:stretch/>
        </p:blipFill>
        <p:spPr bwMode="auto">
          <a:xfrm>
            <a:off x="870052" y="1738732"/>
            <a:ext cx="372161" cy="372161"/>
          </a:xfrm>
          <a:prstGeom prst="rect">
            <a:avLst/>
          </a:prstGeom>
        </p:spPr>
      </p:pic>
      <p:sp>
        <p:nvSpPr>
          <p:cNvPr id="496344888" name="Text 4"/>
          <p:cNvSpPr txBox="1"/>
          <p:nvPr/>
        </p:nvSpPr>
        <p:spPr bwMode="auto">
          <a:xfrm>
            <a:off x="1463040" y="1783080"/>
            <a:ext cx="4251960" cy="365760"/>
          </a:xfrm>
          <a:prstGeom prst="rect">
            <a:avLst/>
          </a:prstGeom>
          <a:noFill/>
          <a:ln/>
        </p:spPr>
        <p:txBody>
          <a:bodyPr wrap="square" lIns="0" tIns="0" rIns="0" bIns="0" rtlCol="0" anchor="ctr"/>
          <a:lstStyle/>
          <a:p>
            <a:pPr marL="0" indent="0">
              <a:buNone/>
              <a:defRPr/>
            </a:pPr>
            <a:r>
              <a:rPr lang="en-US" sz="1350" b="1">
                <a:solidFill>
                  <a:srgbClr val="B3492F"/>
                </a:solidFill>
                <a:latin typeface="Calibri"/>
                <a:ea typeface="Calibri"/>
                <a:cs typeface="Calibri"/>
              </a:rPr>
              <a:t>CURRENT LIMITATIONS</a:t>
            </a:r>
            <a:endParaRPr lang="en-US" sz="1350"/>
          </a:p>
        </p:txBody>
      </p:sp>
      <p:sp>
        <p:nvSpPr>
          <p:cNvPr id="1791595869" name="Text 5"/>
          <p:cNvSpPr txBox="1"/>
          <p:nvPr/>
        </p:nvSpPr>
        <p:spPr bwMode="auto">
          <a:xfrm>
            <a:off x="868680" y="2423160"/>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Backend not completed — no full server layer</a:t>
            </a:r>
            <a:endParaRPr lang="en-US" sz="1250"/>
          </a:p>
        </p:txBody>
      </p:sp>
      <p:sp>
        <p:nvSpPr>
          <p:cNvPr id="387947895" name="Text 6"/>
          <p:cNvSpPr txBox="1"/>
          <p:nvPr/>
        </p:nvSpPr>
        <p:spPr bwMode="auto">
          <a:xfrm>
            <a:off x="868680" y="2990088"/>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No persistent cloud database</a:t>
            </a:r>
            <a:endParaRPr lang="en-US" sz="1250"/>
          </a:p>
        </p:txBody>
      </p:sp>
      <p:sp>
        <p:nvSpPr>
          <p:cNvPr id="1117911389" name="Text 7"/>
          <p:cNvSpPr txBox="1"/>
          <p:nvPr/>
        </p:nvSpPr>
        <p:spPr bwMode="auto">
          <a:xfrm>
            <a:off x="868680" y="3557016"/>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Five other stakeholder modules not built</a:t>
            </a:r>
            <a:endParaRPr lang="en-US" sz="1250"/>
          </a:p>
        </p:txBody>
      </p:sp>
      <p:sp>
        <p:nvSpPr>
          <p:cNvPr id="1557910800" name="Text 8"/>
          <p:cNvSpPr txBox="1"/>
          <p:nvPr/>
        </p:nvSpPr>
        <p:spPr bwMode="auto">
          <a:xfrm>
            <a:off x="868680" y="4123944"/>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IoT telemetry is simulated, not physical hardware</a:t>
            </a:r>
            <a:endParaRPr lang="en-US" sz="1250"/>
          </a:p>
        </p:txBody>
      </p:sp>
      <p:sp>
        <p:nvSpPr>
          <p:cNvPr id="346246929" name="Text 9"/>
          <p:cNvSpPr txBox="1"/>
          <p:nvPr/>
        </p:nvSpPr>
        <p:spPr bwMode="auto">
          <a:xfrm>
            <a:off x="868680" y="4690872"/>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Marketplace is prototype-level (no payments)</a:t>
            </a:r>
            <a:endParaRPr lang="en-US" sz="1250"/>
          </a:p>
        </p:txBody>
      </p:sp>
      <p:sp>
        <p:nvSpPr>
          <p:cNvPr id="2010605391" name="Text 10"/>
          <p:cNvSpPr txBox="1"/>
          <p:nvPr/>
        </p:nvSpPr>
        <p:spPr bwMode="auto">
          <a:xfrm>
            <a:off x="868680" y="5257800"/>
            <a:ext cx="4709160" cy="530352"/>
          </a:xfrm>
          <a:prstGeom prst="rect">
            <a:avLst/>
          </a:prstGeom>
          <a:noFill/>
          <a:ln/>
        </p:spPr>
        <p:txBody>
          <a:bodyPr wrap="square" lIns="0" tIns="0" rIns="0" bIns="0" rtlCol="0" anchor="ctr"/>
          <a:lstStyle/>
          <a:p>
            <a:pPr marL="0" indent="0">
              <a:lnSpc>
                <a:spcPct val="110000"/>
              </a:lnSpc>
              <a:buNone/>
              <a:defRPr/>
            </a:pPr>
            <a:r>
              <a:rPr lang="en-US" sz="1250">
                <a:solidFill>
                  <a:srgbClr val="222B26"/>
                </a:solidFill>
                <a:latin typeface="Calibri"/>
                <a:ea typeface="Calibri"/>
                <a:cs typeface="Calibri"/>
              </a:rPr>
              <a:t>•  Application depends on external Open-Meteo &amp; Gemini APIs</a:t>
            </a:r>
            <a:endParaRPr lang="en-US" sz="1250"/>
          </a:p>
        </p:txBody>
      </p:sp>
      <p:sp>
        <p:nvSpPr>
          <p:cNvPr id="1823229615" name="Shape 11"/>
          <p:cNvSpPr/>
          <p:nvPr/>
        </p:nvSpPr>
        <p:spPr bwMode="auto">
          <a:xfrm>
            <a:off x="6263640" y="1417320"/>
            <a:ext cx="5349240" cy="4846320"/>
          </a:xfrm>
          <a:prstGeom prst="roundRect">
            <a:avLst>
              <a:gd name="adj" fmla="val 1698"/>
            </a:avLst>
          </a:prstGeom>
          <a:solidFill>
            <a:srgbClr val="1F4D3A"/>
          </a:solidFill>
          <a:ln/>
        </p:spPr>
      </p:sp>
      <p:sp>
        <p:nvSpPr>
          <p:cNvPr id="744142840" name="Shape 12"/>
          <p:cNvSpPr/>
          <p:nvPr/>
        </p:nvSpPr>
        <p:spPr bwMode="auto">
          <a:xfrm>
            <a:off x="6519672" y="1673352"/>
            <a:ext cx="502920" cy="502920"/>
          </a:xfrm>
          <a:prstGeom prst="ellipse">
            <a:avLst/>
          </a:prstGeom>
          <a:solidFill>
            <a:srgbClr val="B8792E"/>
          </a:solidFill>
          <a:ln/>
        </p:spPr>
      </p:sp>
      <p:pic>
        <p:nvPicPr>
          <p:cNvPr id="1556611710" name="Image 1" descr="/home/claude/work/krishibazar_deck_project/icons/rocket_forest.png"/>
          <p:cNvPicPr>
            <a:picLocks noChangeAspect="1"/>
          </p:cNvPicPr>
          <p:nvPr/>
        </p:nvPicPr>
        <p:blipFill rotWithShape="1">
          <a:blip r:embed="rId4"/>
          <a:stretch/>
        </p:blipFill>
        <p:spPr bwMode="auto">
          <a:xfrm>
            <a:off x="6585052" y="1738732"/>
            <a:ext cx="372161" cy="372161"/>
          </a:xfrm>
          <a:prstGeom prst="rect">
            <a:avLst/>
          </a:prstGeom>
        </p:spPr>
      </p:pic>
      <p:sp>
        <p:nvSpPr>
          <p:cNvPr id="1128672017" name="Text 13"/>
          <p:cNvSpPr txBox="1"/>
          <p:nvPr/>
        </p:nvSpPr>
        <p:spPr bwMode="auto">
          <a:xfrm>
            <a:off x="7178039" y="1783080"/>
            <a:ext cx="4251960" cy="365760"/>
          </a:xfrm>
          <a:prstGeom prst="rect">
            <a:avLst/>
          </a:prstGeom>
          <a:noFill/>
          <a:ln/>
        </p:spPr>
        <p:txBody>
          <a:bodyPr wrap="square" lIns="0" tIns="0" rIns="0" bIns="0" rtlCol="0" anchor="ctr"/>
          <a:lstStyle/>
          <a:p>
            <a:pPr marL="0" indent="0">
              <a:buNone/>
              <a:defRPr/>
            </a:pPr>
            <a:r>
              <a:rPr lang="en-US" sz="1350" b="1">
                <a:solidFill>
                  <a:srgbClr val="B8792E"/>
                </a:solidFill>
                <a:latin typeface="Calibri"/>
                <a:ea typeface="Calibri"/>
                <a:cs typeface="Calibri"/>
              </a:rPr>
              <a:t>FUTURE SCOPE</a:t>
            </a:r>
            <a:endParaRPr lang="en-US" sz="1350"/>
          </a:p>
        </p:txBody>
      </p:sp>
      <p:sp>
        <p:nvSpPr>
          <p:cNvPr id="877883499" name="Text 14"/>
          <p:cNvSpPr txBox="1"/>
          <p:nvPr/>
        </p:nvSpPr>
        <p:spPr bwMode="auto">
          <a:xfrm>
            <a:off x="6583680" y="242316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Complete the application backend</a:t>
            </a:r>
            <a:endParaRPr lang="en-US" sz="1250"/>
          </a:p>
        </p:txBody>
      </p:sp>
      <p:sp>
        <p:nvSpPr>
          <p:cNvPr id="533105438" name="Text 15"/>
          <p:cNvSpPr txBox="1"/>
          <p:nvPr/>
        </p:nvSpPr>
        <p:spPr bwMode="auto">
          <a:xfrm>
            <a:off x="6583680" y="292608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Add a persistent cloud database</a:t>
            </a:r>
            <a:endParaRPr lang="en-US" sz="1250"/>
          </a:p>
        </p:txBody>
      </p:sp>
      <p:sp>
        <p:nvSpPr>
          <p:cNvPr id="555755489" name="Text 16"/>
          <p:cNvSpPr txBox="1"/>
          <p:nvPr/>
        </p:nvSpPr>
        <p:spPr bwMode="auto">
          <a:xfrm>
            <a:off x="6583680" y="342900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Connect all six planned stakeholders</a:t>
            </a:r>
            <a:endParaRPr lang="en-US" sz="1250"/>
          </a:p>
        </p:txBody>
      </p:sp>
      <p:sp>
        <p:nvSpPr>
          <p:cNvPr id="422600735" name="Text 17"/>
          <p:cNvSpPr txBox="1"/>
          <p:nvPr/>
        </p:nvSpPr>
        <p:spPr bwMode="auto">
          <a:xfrm>
            <a:off x="6583680" y="393192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Integrate physical IoT sensors</a:t>
            </a:r>
            <a:endParaRPr lang="en-US" sz="1250"/>
          </a:p>
        </p:txBody>
      </p:sp>
      <p:sp>
        <p:nvSpPr>
          <p:cNvPr id="890299420" name="Text 18"/>
          <p:cNvSpPr txBox="1"/>
          <p:nvPr/>
        </p:nvSpPr>
        <p:spPr bwMode="auto">
          <a:xfrm>
            <a:off x="6583680" y="443484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Production marketplace with payments</a:t>
            </a:r>
            <a:endParaRPr lang="en-US" sz="1250"/>
          </a:p>
        </p:txBody>
      </p:sp>
      <p:sp>
        <p:nvSpPr>
          <p:cNvPr id="680876218" name="Text 19"/>
          <p:cNvSpPr txBox="1"/>
          <p:nvPr/>
        </p:nvSpPr>
        <p:spPr bwMode="auto">
          <a:xfrm>
            <a:off x="6583680" y="493776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Localized agricultural AI/ML models</a:t>
            </a:r>
            <a:endParaRPr lang="en-US" sz="1250"/>
          </a:p>
        </p:txBody>
      </p:sp>
      <p:sp>
        <p:nvSpPr>
          <p:cNvPr id="25138931" name="Text 20"/>
          <p:cNvSpPr txBox="1"/>
          <p:nvPr/>
        </p:nvSpPr>
        <p:spPr bwMode="auto">
          <a:xfrm>
            <a:off x="6583680" y="5440680"/>
            <a:ext cx="4709160" cy="457200"/>
          </a:xfrm>
          <a:prstGeom prst="rect">
            <a:avLst/>
          </a:prstGeom>
          <a:noFill/>
          <a:ln/>
        </p:spPr>
        <p:txBody>
          <a:bodyPr wrap="square" lIns="0" tIns="0" rIns="0" bIns="0" rtlCol="0" anchor="ctr"/>
          <a:lstStyle/>
          <a:p>
            <a:pPr marL="0" indent="0">
              <a:lnSpc>
                <a:spcPct val="105000"/>
              </a:lnSpc>
              <a:buNone/>
              <a:defRPr/>
            </a:pPr>
            <a:r>
              <a:rPr lang="en-US" sz="1250">
                <a:solidFill>
                  <a:srgbClr val="FFFFFF"/>
                </a:solidFill>
                <a:latin typeface="Calibri"/>
                <a:ea typeface="Calibri"/>
                <a:cs typeface="Calibri"/>
              </a:rPr>
              <a:t>•  Deployment &amp; scaling</a:t>
            </a:r>
            <a:endParaRPr lang="en-US" sz="1250"/>
          </a:p>
        </p:txBody>
      </p:sp>
      <p:sp>
        <p:nvSpPr>
          <p:cNvPr id="2022654803" name="Text 21"/>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650439569" name="Text 22"/>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570446162" name="Text 0"/>
          <p:cNvSpPr txBox="1"/>
          <p:nvPr/>
        </p:nvSpPr>
        <p:spPr bwMode="auto">
          <a:xfrm>
            <a:off x="548640" y="320040"/>
            <a:ext cx="9144000" cy="274320"/>
          </a:xfrm>
          <a:prstGeom prst="rect">
            <a:avLst/>
          </a:prstGeom>
          <a:noFill/>
          <a:ln/>
        </p:spPr>
        <p:txBody>
          <a:bodyPr wrap="square" lIns="0" tIns="0" rIns="0" bIns="0" rtlCol="0" anchor="ctr"/>
          <a:lstStyle/>
          <a:p>
            <a:pPr marL="0" indent="0">
              <a:buNone/>
              <a:defRPr/>
            </a:pPr>
            <a:r>
              <a:rPr lang="en-US" sz="1150" b="1" spc="200">
                <a:solidFill>
                  <a:srgbClr val="B8792E"/>
                </a:solidFill>
                <a:latin typeface="Calibri"/>
                <a:ea typeface="Calibri"/>
                <a:cs typeface="Calibri"/>
              </a:rPr>
              <a:t>REFLECTION</a:t>
            </a:r>
            <a:endParaRPr lang="en-US" sz="1150"/>
          </a:p>
        </p:txBody>
      </p:sp>
      <p:sp>
        <p:nvSpPr>
          <p:cNvPr id="758412540" name="Text 1"/>
          <p:cNvSpPr txBox="1"/>
          <p:nvPr/>
        </p:nvSpPr>
        <p:spPr bwMode="auto">
          <a:xfrm>
            <a:off x="548640" y="576072"/>
            <a:ext cx="10515600" cy="640080"/>
          </a:xfrm>
          <a:prstGeom prst="rect">
            <a:avLst/>
          </a:prstGeom>
          <a:noFill/>
          <a:ln/>
        </p:spPr>
        <p:txBody>
          <a:bodyPr wrap="square" lIns="0" tIns="0" rIns="0" bIns="0" rtlCol="0" anchor="ctr"/>
          <a:lstStyle/>
          <a:p>
            <a:pPr marL="0" indent="0">
              <a:buNone/>
              <a:defRPr/>
            </a:pPr>
            <a:r>
              <a:rPr lang="en-US" sz="2800" b="1">
                <a:solidFill>
                  <a:srgbClr val="1F4D3A"/>
                </a:solidFill>
                <a:latin typeface="Cambria"/>
                <a:ea typeface="Cambria"/>
                <a:cs typeface="Cambria"/>
              </a:rPr>
              <a:t>Lessons Learned</a:t>
            </a:r>
            <a:endParaRPr lang="en-US" sz="2800"/>
          </a:p>
        </p:txBody>
      </p:sp>
      <p:sp>
        <p:nvSpPr>
          <p:cNvPr id="643049176" name="Shape 2"/>
          <p:cNvSpPr/>
          <p:nvPr/>
        </p:nvSpPr>
        <p:spPr bwMode="auto">
          <a:xfrm>
            <a:off x="548640" y="1444752"/>
            <a:ext cx="384048" cy="384048"/>
          </a:xfrm>
          <a:prstGeom prst="ellipse">
            <a:avLst/>
          </a:prstGeom>
          <a:solidFill>
            <a:srgbClr val="1F4D3A"/>
          </a:solidFill>
          <a:ln/>
        </p:spPr>
      </p:sp>
      <p:pic>
        <p:nvPicPr>
          <p:cNvPr id="176419516" name="Image 0" descr="/home/claude/work/krishibazar_deck_project/icons/lightbulb_white.png"/>
          <p:cNvPicPr>
            <a:picLocks noChangeAspect="1"/>
          </p:cNvPicPr>
          <p:nvPr/>
        </p:nvPicPr>
        <p:blipFill rotWithShape="1">
          <a:blip r:embed="rId3"/>
          <a:stretch/>
        </p:blipFill>
        <p:spPr bwMode="auto">
          <a:xfrm>
            <a:off x="598566" y="1494678"/>
            <a:ext cx="284196" cy="284196"/>
          </a:xfrm>
          <a:prstGeom prst="rect">
            <a:avLst/>
          </a:prstGeom>
        </p:spPr>
      </p:pic>
      <p:sp>
        <p:nvSpPr>
          <p:cNvPr id="162114691" name="Text 3"/>
          <p:cNvSpPr txBox="1"/>
          <p:nvPr/>
        </p:nvSpPr>
        <p:spPr bwMode="auto">
          <a:xfrm>
            <a:off x="1078992" y="1399032"/>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Scope management is critical to project success.</a:t>
            </a:r>
            <a:endParaRPr lang="en-US" sz="1200"/>
          </a:p>
        </p:txBody>
      </p:sp>
      <p:sp>
        <p:nvSpPr>
          <p:cNvPr id="1805323665" name="Shape 4"/>
          <p:cNvSpPr/>
          <p:nvPr/>
        </p:nvSpPr>
        <p:spPr bwMode="auto">
          <a:xfrm>
            <a:off x="6263640" y="1444752"/>
            <a:ext cx="384048" cy="384048"/>
          </a:xfrm>
          <a:prstGeom prst="ellipse">
            <a:avLst/>
          </a:prstGeom>
          <a:solidFill>
            <a:srgbClr val="1F4D3A"/>
          </a:solidFill>
          <a:ln/>
        </p:spPr>
      </p:sp>
      <p:pic>
        <p:nvPicPr>
          <p:cNvPr id="1107579982" name="Image 1" descr="/home/claude/work/krishibazar_deck_project/icons/lightbulb_white.png"/>
          <p:cNvPicPr>
            <a:picLocks noChangeAspect="1"/>
          </p:cNvPicPr>
          <p:nvPr/>
        </p:nvPicPr>
        <p:blipFill rotWithShape="1">
          <a:blip r:embed="rId3"/>
          <a:stretch/>
        </p:blipFill>
        <p:spPr bwMode="auto">
          <a:xfrm>
            <a:off x="6313566" y="1494678"/>
            <a:ext cx="284196" cy="284196"/>
          </a:xfrm>
          <a:prstGeom prst="rect">
            <a:avLst/>
          </a:prstGeom>
        </p:spPr>
      </p:pic>
      <p:sp>
        <p:nvSpPr>
          <p:cNvPr id="1648155892" name="Text 5"/>
          <p:cNvSpPr txBox="1"/>
          <p:nvPr/>
        </p:nvSpPr>
        <p:spPr bwMode="auto">
          <a:xfrm>
            <a:off x="6793992" y="1399032"/>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Integration is harder than isolated feature development.</a:t>
            </a:r>
            <a:endParaRPr lang="en-US" sz="1200"/>
          </a:p>
        </p:txBody>
      </p:sp>
      <p:sp>
        <p:nvSpPr>
          <p:cNvPr id="1278629541" name="Shape 6"/>
          <p:cNvSpPr/>
          <p:nvPr/>
        </p:nvSpPr>
        <p:spPr bwMode="auto">
          <a:xfrm>
            <a:off x="548640" y="2157984"/>
            <a:ext cx="384048" cy="384048"/>
          </a:xfrm>
          <a:prstGeom prst="ellipse">
            <a:avLst/>
          </a:prstGeom>
          <a:solidFill>
            <a:srgbClr val="1F4D3A"/>
          </a:solidFill>
          <a:ln/>
        </p:spPr>
      </p:sp>
      <p:pic>
        <p:nvPicPr>
          <p:cNvPr id="1813852611" name="Image 2" descr="/home/claude/work/krishibazar_deck_project/icons/lightbulb_white.png"/>
          <p:cNvPicPr>
            <a:picLocks noChangeAspect="1"/>
          </p:cNvPicPr>
          <p:nvPr/>
        </p:nvPicPr>
        <p:blipFill rotWithShape="1">
          <a:blip r:embed="rId3"/>
          <a:stretch/>
        </p:blipFill>
        <p:spPr bwMode="auto">
          <a:xfrm>
            <a:off x="598566" y="2207910"/>
            <a:ext cx="284196" cy="284196"/>
          </a:xfrm>
          <a:prstGeom prst="rect">
            <a:avLst/>
          </a:prstGeom>
        </p:spPr>
      </p:pic>
      <p:sp>
        <p:nvSpPr>
          <p:cNvPr id="443293822" name="Text 7"/>
          <p:cNvSpPr txBox="1"/>
          <p:nvPr/>
        </p:nvSpPr>
        <p:spPr bwMode="auto">
          <a:xfrm>
            <a:off x="1078992" y="2112264"/>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External APIs require robust fallback and error handling.</a:t>
            </a:r>
            <a:endParaRPr lang="en-US" sz="1200"/>
          </a:p>
        </p:txBody>
      </p:sp>
      <p:sp>
        <p:nvSpPr>
          <p:cNvPr id="759739684" name="Shape 8"/>
          <p:cNvSpPr/>
          <p:nvPr/>
        </p:nvSpPr>
        <p:spPr bwMode="auto">
          <a:xfrm>
            <a:off x="6263640" y="2157984"/>
            <a:ext cx="384048" cy="384048"/>
          </a:xfrm>
          <a:prstGeom prst="ellipse">
            <a:avLst/>
          </a:prstGeom>
          <a:solidFill>
            <a:srgbClr val="1F4D3A"/>
          </a:solidFill>
          <a:ln/>
        </p:spPr>
      </p:sp>
      <p:pic>
        <p:nvPicPr>
          <p:cNvPr id="281281030" name="Image 3" descr="/home/claude/work/krishibazar_deck_project/icons/lightbulb_white.png"/>
          <p:cNvPicPr>
            <a:picLocks noChangeAspect="1"/>
          </p:cNvPicPr>
          <p:nvPr/>
        </p:nvPicPr>
        <p:blipFill rotWithShape="1">
          <a:blip r:embed="rId3"/>
          <a:stretch/>
        </p:blipFill>
        <p:spPr bwMode="auto">
          <a:xfrm>
            <a:off x="6313566" y="2207910"/>
            <a:ext cx="284196" cy="284196"/>
          </a:xfrm>
          <a:prstGeom prst="rect">
            <a:avLst/>
          </a:prstGeom>
        </p:spPr>
      </p:pic>
      <p:sp>
        <p:nvSpPr>
          <p:cNvPr id="1767012937" name="Text 9"/>
          <p:cNvSpPr txBox="1"/>
          <p:nvPr/>
        </p:nvSpPr>
        <p:spPr bwMode="auto">
          <a:xfrm>
            <a:off x="6793992" y="2112264"/>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AI outputs are only as reliable as the underlying data.</a:t>
            </a:r>
            <a:endParaRPr lang="en-US" sz="1200"/>
          </a:p>
        </p:txBody>
      </p:sp>
      <p:sp>
        <p:nvSpPr>
          <p:cNvPr id="1115753431" name="Shape 10"/>
          <p:cNvSpPr/>
          <p:nvPr/>
        </p:nvSpPr>
        <p:spPr bwMode="auto">
          <a:xfrm>
            <a:off x="548640" y="2871216"/>
            <a:ext cx="384048" cy="384048"/>
          </a:xfrm>
          <a:prstGeom prst="ellipse">
            <a:avLst/>
          </a:prstGeom>
          <a:solidFill>
            <a:srgbClr val="1F4D3A"/>
          </a:solidFill>
          <a:ln/>
        </p:spPr>
      </p:sp>
      <p:pic>
        <p:nvPicPr>
          <p:cNvPr id="641698713" name="Image 4" descr="/home/claude/work/krishibazar_deck_project/icons/lightbulb_white.png"/>
          <p:cNvPicPr>
            <a:picLocks noChangeAspect="1"/>
          </p:cNvPicPr>
          <p:nvPr/>
        </p:nvPicPr>
        <p:blipFill rotWithShape="1">
          <a:blip r:embed="rId3"/>
          <a:stretch/>
        </p:blipFill>
        <p:spPr bwMode="auto">
          <a:xfrm>
            <a:off x="598566" y="2921142"/>
            <a:ext cx="284196" cy="284196"/>
          </a:xfrm>
          <a:prstGeom prst="rect">
            <a:avLst/>
          </a:prstGeom>
        </p:spPr>
      </p:pic>
      <p:sp>
        <p:nvSpPr>
          <p:cNvPr id="134502088" name="Text 11"/>
          <p:cNvSpPr txBox="1"/>
          <p:nvPr/>
        </p:nvSpPr>
        <p:spPr bwMode="auto">
          <a:xfrm>
            <a:off x="1078992" y="2825496"/>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Testing should happen continuously, not just at the end.</a:t>
            </a:r>
            <a:endParaRPr lang="en-US" sz="1200"/>
          </a:p>
        </p:txBody>
      </p:sp>
      <p:sp>
        <p:nvSpPr>
          <p:cNvPr id="1682041685" name="Shape 12"/>
          <p:cNvSpPr/>
          <p:nvPr/>
        </p:nvSpPr>
        <p:spPr bwMode="auto">
          <a:xfrm>
            <a:off x="6263640" y="2871216"/>
            <a:ext cx="384048" cy="384048"/>
          </a:xfrm>
          <a:prstGeom prst="ellipse">
            <a:avLst/>
          </a:prstGeom>
          <a:solidFill>
            <a:srgbClr val="1F4D3A"/>
          </a:solidFill>
          <a:ln/>
        </p:spPr>
      </p:sp>
      <p:pic>
        <p:nvPicPr>
          <p:cNvPr id="309049952" name="Image 5" descr="/home/claude/work/krishibazar_deck_project/icons/lightbulb_white.png"/>
          <p:cNvPicPr>
            <a:picLocks noChangeAspect="1"/>
          </p:cNvPicPr>
          <p:nvPr/>
        </p:nvPicPr>
        <p:blipFill rotWithShape="1">
          <a:blip r:embed="rId3"/>
          <a:stretch/>
        </p:blipFill>
        <p:spPr bwMode="auto">
          <a:xfrm>
            <a:off x="6313566" y="2921142"/>
            <a:ext cx="284196" cy="284196"/>
          </a:xfrm>
          <a:prstGeom prst="rect">
            <a:avLst/>
          </a:prstGeom>
        </p:spPr>
      </p:pic>
      <p:sp>
        <p:nvSpPr>
          <p:cNvPr id="1777023483" name="Text 13"/>
          <p:cNvSpPr txBox="1"/>
          <p:nvPr/>
        </p:nvSpPr>
        <p:spPr bwMode="auto">
          <a:xfrm>
            <a:off x="6793992" y="2825496"/>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Hardware concepts should be clearly separated from simulation.</a:t>
            </a:r>
            <a:endParaRPr lang="en-US" sz="1200"/>
          </a:p>
        </p:txBody>
      </p:sp>
      <p:sp>
        <p:nvSpPr>
          <p:cNvPr id="1678578946" name="Shape 14"/>
          <p:cNvSpPr/>
          <p:nvPr/>
        </p:nvSpPr>
        <p:spPr bwMode="auto">
          <a:xfrm>
            <a:off x="548640" y="3584448"/>
            <a:ext cx="384048" cy="384048"/>
          </a:xfrm>
          <a:prstGeom prst="ellipse">
            <a:avLst/>
          </a:prstGeom>
          <a:solidFill>
            <a:srgbClr val="1F4D3A"/>
          </a:solidFill>
          <a:ln/>
        </p:spPr>
      </p:sp>
      <p:pic>
        <p:nvPicPr>
          <p:cNvPr id="1727499079" name="Image 6" descr="/home/claude/work/krishibazar_deck_project/icons/lightbulb_white.png"/>
          <p:cNvPicPr>
            <a:picLocks noChangeAspect="1"/>
          </p:cNvPicPr>
          <p:nvPr/>
        </p:nvPicPr>
        <p:blipFill rotWithShape="1">
          <a:blip r:embed="rId3"/>
          <a:stretch/>
        </p:blipFill>
        <p:spPr bwMode="auto">
          <a:xfrm>
            <a:off x="598566" y="3634374"/>
            <a:ext cx="284196" cy="284196"/>
          </a:xfrm>
          <a:prstGeom prst="rect">
            <a:avLst/>
          </a:prstGeom>
        </p:spPr>
      </p:pic>
      <p:sp>
        <p:nvSpPr>
          <p:cNvPr id="1400944417" name="Text 15"/>
          <p:cNvSpPr txBox="1"/>
          <p:nvPr/>
        </p:nvSpPr>
        <p:spPr bwMode="auto">
          <a:xfrm>
            <a:off x="1078992" y="3538728"/>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Collaboration can work well even with centralized repo pushes.</a:t>
            </a:r>
            <a:endParaRPr lang="en-US" sz="1200"/>
          </a:p>
        </p:txBody>
      </p:sp>
      <p:sp>
        <p:nvSpPr>
          <p:cNvPr id="128630904" name="Shape 16"/>
          <p:cNvSpPr/>
          <p:nvPr/>
        </p:nvSpPr>
        <p:spPr bwMode="auto">
          <a:xfrm>
            <a:off x="6263640" y="3584448"/>
            <a:ext cx="384048" cy="384048"/>
          </a:xfrm>
          <a:prstGeom prst="ellipse">
            <a:avLst/>
          </a:prstGeom>
          <a:solidFill>
            <a:srgbClr val="1F4D3A"/>
          </a:solidFill>
          <a:ln/>
        </p:spPr>
      </p:sp>
      <p:pic>
        <p:nvPicPr>
          <p:cNvPr id="1432923557" name="Image 7" descr="/home/claude/work/krishibazar_deck_project/icons/lightbulb_white.png"/>
          <p:cNvPicPr>
            <a:picLocks noChangeAspect="1"/>
          </p:cNvPicPr>
          <p:nvPr/>
        </p:nvPicPr>
        <p:blipFill rotWithShape="1">
          <a:blip r:embed="rId3"/>
          <a:stretch/>
        </p:blipFill>
        <p:spPr bwMode="auto">
          <a:xfrm>
            <a:off x="6313566" y="3634374"/>
            <a:ext cx="284196" cy="284196"/>
          </a:xfrm>
          <a:prstGeom prst="rect">
            <a:avLst/>
          </a:prstGeom>
        </p:spPr>
      </p:pic>
      <p:sp>
        <p:nvSpPr>
          <p:cNvPr id="1289348185" name="Text 17"/>
          <p:cNvSpPr txBox="1"/>
          <p:nvPr/>
        </p:nvSpPr>
        <p:spPr bwMode="auto">
          <a:xfrm>
            <a:off x="6793992" y="3538728"/>
            <a:ext cx="4800600" cy="621792"/>
          </a:xfrm>
          <a:prstGeom prst="rect">
            <a:avLst/>
          </a:prstGeom>
          <a:noFill/>
          <a:ln/>
        </p:spPr>
        <p:txBody>
          <a:bodyPr wrap="square" lIns="0" tIns="0" rIns="0" bIns="0" rtlCol="0" anchor="ctr"/>
          <a:lstStyle/>
          <a:p>
            <a:pPr marL="0" indent="0">
              <a:lnSpc>
                <a:spcPct val="110000"/>
              </a:lnSpc>
              <a:buNone/>
              <a:defRPr/>
            </a:pPr>
            <a:r>
              <a:rPr lang="en-US" sz="1200">
                <a:solidFill>
                  <a:srgbClr val="222B26"/>
                </a:solidFill>
                <a:latin typeface="Calibri"/>
                <a:ea typeface="Calibri"/>
                <a:cs typeface="Calibri"/>
              </a:rPr>
              <a:t>Prioritizing one core workflow beats partially finishing all.</a:t>
            </a:r>
            <a:endParaRPr lang="en-US" sz="1200"/>
          </a:p>
        </p:txBody>
      </p:sp>
      <p:sp>
        <p:nvSpPr>
          <p:cNvPr id="1312505431" name="Shape 18"/>
          <p:cNvSpPr/>
          <p:nvPr/>
        </p:nvSpPr>
        <p:spPr bwMode="auto">
          <a:xfrm>
            <a:off x="548640" y="4590288"/>
            <a:ext cx="11064240" cy="1691640"/>
          </a:xfrm>
          <a:prstGeom prst="roundRect">
            <a:avLst>
              <a:gd name="adj" fmla="val 4865"/>
            </a:avLst>
          </a:prstGeom>
          <a:solidFill>
            <a:srgbClr val="1F4D3A"/>
          </a:solidFill>
          <a:ln/>
        </p:spPr>
      </p:sp>
      <p:sp>
        <p:nvSpPr>
          <p:cNvPr id="490909575" name="Text 19"/>
          <p:cNvSpPr txBox="1"/>
          <p:nvPr/>
        </p:nvSpPr>
        <p:spPr bwMode="auto">
          <a:xfrm>
            <a:off x="822960" y="4736592"/>
            <a:ext cx="10515600" cy="274320"/>
          </a:xfrm>
          <a:prstGeom prst="rect">
            <a:avLst/>
          </a:prstGeom>
          <a:noFill/>
          <a:ln/>
        </p:spPr>
        <p:txBody>
          <a:bodyPr wrap="square" lIns="0" tIns="0" rIns="0" bIns="0" rtlCol="0" anchor="ctr"/>
          <a:lstStyle/>
          <a:p>
            <a:pPr marL="0" indent="0">
              <a:buNone/>
              <a:defRPr/>
            </a:pPr>
            <a:r>
              <a:rPr lang="en-US" sz="1150" b="1" spc="100">
                <a:solidFill>
                  <a:srgbClr val="B8792E"/>
                </a:solidFill>
                <a:latin typeface="Calibri"/>
                <a:ea typeface="Calibri"/>
                <a:cs typeface="Calibri"/>
              </a:rPr>
              <a:t>WHAT WE WILL DO DIFFERENTLY NEXT TIME</a:t>
            </a:r>
            <a:endParaRPr lang="en-US" sz="1150"/>
          </a:p>
        </p:txBody>
      </p:sp>
      <p:sp>
        <p:nvSpPr>
          <p:cNvPr id="472878066" name="Text 20"/>
          <p:cNvSpPr txBox="1"/>
          <p:nvPr/>
        </p:nvSpPr>
        <p:spPr bwMode="auto">
          <a:xfrm>
            <a:off x="822960" y="5157216"/>
            <a:ext cx="3352800" cy="457200"/>
          </a:xfrm>
          <a:prstGeom prst="rect">
            <a:avLst/>
          </a:prstGeom>
          <a:noFill/>
          <a:ln/>
        </p:spPr>
        <p:txBody>
          <a:bodyPr wrap="square" lIns="0" tIns="0" rIns="0" bIns="0" rtlCol="0" anchor="ctr"/>
          <a:lstStyle/>
          <a:p>
            <a:pPr marL="0" indent="0">
              <a:lnSpc>
                <a:spcPct val="110000"/>
              </a:lnSpc>
              <a:buNone/>
              <a:defRPr/>
            </a:pPr>
            <a:r>
              <a:rPr lang="en-US" sz="1100">
                <a:solidFill>
                  <a:srgbClr val="FFFFFF"/>
                </a:solidFill>
                <a:latin typeface="Calibri"/>
                <a:ea typeface="Calibri"/>
                <a:cs typeface="Calibri"/>
              </a:rPr>
              <a:t>✓  Start backend/API architecture earlier</a:t>
            </a:r>
            <a:endParaRPr lang="en-US" sz="1100"/>
          </a:p>
        </p:txBody>
      </p:sp>
      <p:sp>
        <p:nvSpPr>
          <p:cNvPr id="234218983" name="Text 21"/>
          <p:cNvSpPr txBox="1"/>
          <p:nvPr/>
        </p:nvSpPr>
        <p:spPr bwMode="auto">
          <a:xfrm>
            <a:off x="4404360" y="5157216"/>
            <a:ext cx="3352800" cy="457200"/>
          </a:xfrm>
          <a:prstGeom prst="rect">
            <a:avLst/>
          </a:prstGeom>
          <a:noFill/>
          <a:ln/>
        </p:spPr>
        <p:txBody>
          <a:bodyPr wrap="square" lIns="0" tIns="0" rIns="0" bIns="0" rtlCol="0" anchor="ctr"/>
          <a:lstStyle/>
          <a:p>
            <a:pPr marL="0" indent="0">
              <a:lnSpc>
                <a:spcPct val="110000"/>
              </a:lnSpc>
              <a:buNone/>
              <a:defRPr/>
            </a:pPr>
            <a:r>
              <a:rPr lang="en-US" sz="1100">
                <a:solidFill>
                  <a:srgbClr val="FFFFFF"/>
                </a:solidFill>
                <a:latin typeface="Calibri"/>
                <a:ea typeface="Calibri"/>
                <a:cs typeface="Calibri"/>
              </a:rPr>
              <a:t>✓  Break the project into smaller milestones</a:t>
            </a:r>
            <a:endParaRPr lang="en-US" sz="1100"/>
          </a:p>
        </p:txBody>
      </p:sp>
      <p:sp>
        <p:nvSpPr>
          <p:cNvPr id="138397848" name="Text 22"/>
          <p:cNvSpPr txBox="1"/>
          <p:nvPr/>
        </p:nvSpPr>
        <p:spPr bwMode="auto">
          <a:xfrm>
            <a:off x="7985760" y="5157216"/>
            <a:ext cx="3352800" cy="457200"/>
          </a:xfrm>
          <a:prstGeom prst="rect">
            <a:avLst/>
          </a:prstGeom>
          <a:noFill/>
          <a:ln/>
        </p:spPr>
        <p:txBody>
          <a:bodyPr wrap="square" lIns="0" tIns="0" rIns="0" bIns="0" rtlCol="0" anchor="ctr"/>
          <a:lstStyle/>
          <a:p>
            <a:pPr marL="0" indent="0">
              <a:lnSpc>
                <a:spcPct val="110000"/>
              </a:lnSpc>
              <a:buNone/>
              <a:defRPr/>
            </a:pPr>
            <a:r>
              <a:rPr lang="en-US" sz="1100">
                <a:solidFill>
                  <a:srgbClr val="FFFFFF"/>
                </a:solidFill>
                <a:latin typeface="Calibri"/>
                <a:ea typeface="Calibri"/>
                <a:cs typeface="Calibri"/>
              </a:rPr>
              <a:t>✓  Define the MVP before expanding scope</a:t>
            </a:r>
            <a:endParaRPr lang="en-US" sz="1100"/>
          </a:p>
        </p:txBody>
      </p:sp>
      <p:sp>
        <p:nvSpPr>
          <p:cNvPr id="210532438" name="Text 23"/>
          <p:cNvSpPr txBox="1"/>
          <p:nvPr/>
        </p:nvSpPr>
        <p:spPr bwMode="auto">
          <a:xfrm>
            <a:off x="822960" y="5733288"/>
            <a:ext cx="5143500" cy="457200"/>
          </a:xfrm>
          <a:prstGeom prst="rect">
            <a:avLst/>
          </a:prstGeom>
          <a:noFill/>
          <a:ln/>
        </p:spPr>
        <p:txBody>
          <a:bodyPr wrap="square" lIns="0" tIns="0" rIns="0" bIns="0" rtlCol="0" anchor="ctr"/>
          <a:lstStyle/>
          <a:p>
            <a:pPr marL="0" indent="0">
              <a:lnSpc>
                <a:spcPct val="110000"/>
              </a:lnSpc>
              <a:buNone/>
              <a:defRPr/>
            </a:pPr>
            <a:r>
              <a:rPr lang="en-US" sz="1100">
                <a:solidFill>
                  <a:srgbClr val="FFFFFF"/>
                </a:solidFill>
                <a:latin typeface="Calibri"/>
                <a:ea typeface="Calibri"/>
                <a:cs typeface="Calibri"/>
              </a:rPr>
              <a:t>✓  Allocate dedicated integration &amp; testing time</a:t>
            </a:r>
            <a:endParaRPr lang="en-US" sz="1100"/>
          </a:p>
        </p:txBody>
      </p:sp>
      <p:sp>
        <p:nvSpPr>
          <p:cNvPr id="206296054" name="Text 24"/>
          <p:cNvSpPr txBox="1"/>
          <p:nvPr/>
        </p:nvSpPr>
        <p:spPr bwMode="auto">
          <a:xfrm>
            <a:off x="6195060" y="5733288"/>
            <a:ext cx="5143500" cy="457200"/>
          </a:xfrm>
          <a:prstGeom prst="rect">
            <a:avLst/>
          </a:prstGeom>
          <a:noFill/>
          <a:ln/>
        </p:spPr>
        <p:txBody>
          <a:bodyPr wrap="square" lIns="0" tIns="0" rIns="0" bIns="0" rtlCol="0" anchor="ctr"/>
          <a:lstStyle/>
          <a:p>
            <a:pPr marL="0" indent="0">
              <a:lnSpc>
                <a:spcPct val="110000"/>
              </a:lnSpc>
              <a:buNone/>
              <a:defRPr/>
            </a:pPr>
            <a:r>
              <a:rPr lang="en-US" sz="1100">
                <a:solidFill>
                  <a:srgbClr val="FFFFFF"/>
                </a:solidFill>
                <a:latin typeface="Calibri"/>
                <a:ea typeface="Calibri"/>
                <a:cs typeface="Calibri"/>
              </a:rPr>
              <a:t>✓  Establish clearer ownership within the team</a:t>
            </a:r>
            <a:endParaRPr lang="en-US" sz="1100"/>
          </a:p>
        </p:txBody>
      </p:sp>
      <p:sp>
        <p:nvSpPr>
          <p:cNvPr id="298611203" name="Text 25"/>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833425528" name="Text 26"/>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1F4D3A"/>
        </a:solidFill>
      </p:bgPr>
    </p:bg>
    <p:spTree>
      <p:nvGrpSpPr>
        <p:cNvPr id="1" name=""/>
        <p:cNvGrpSpPr/>
        <p:nvPr/>
      </p:nvGrpSpPr>
      <p:grpSpPr bwMode="auto">
        <a:xfrm>
          <a:off x="0" y="0"/>
          <a:ext cx="0" cy="0"/>
          <a:chOff x="0" y="0"/>
          <a:chExt cx="0" cy="0"/>
        </a:xfrm>
      </p:grpSpPr>
      <p:sp>
        <p:nvSpPr>
          <p:cNvPr id="1058361090" name="Shape 0"/>
          <p:cNvSpPr/>
          <p:nvPr/>
        </p:nvSpPr>
        <p:spPr bwMode="auto">
          <a:xfrm>
            <a:off x="-2103120" y="-2103120"/>
            <a:ext cx="5486400" cy="5486400"/>
          </a:xfrm>
          <a:prstGeom prst="ellipse">
            <a:avLst/>
          </a:prstGeom>
          <a:solidFill>
            <a:srgbClr val="163A2B"/>
          </a:solidFill>
          <a:ln/>
        </p:spPr>
      </p:sp>
      <p:sp>
        <p:nvSpPr>
          <p:cNvPr id="324894058" name="Shape 1"/>
          <p:cNvSpPr/>
          <p:nvPr/>
        </p:nvSpPr>
        <p:spPr bwMode="auto">
          <a:xfrm>
            <a:off x="9601200" y="4114800"/>
            <a:ext cx="5943600" cy="5943600"/>
          </a:xfrm>
          <a:prstGeom prst="ellipse">
            <a:avLst/>
          </a:prstGeom>
          <a:solidFill>
            <a:srgbClr val="163A2B"/>
          </a:solidFill>
          <a:ln/>
        </p:spPr>
      </p:sp>
      <p:sp>
        <p:nvSpPr>
          <p:cNvPr id="1173974294" name="Text 2"/>
          <p:cNvSpPr txBox="1"/>
          <p:nvPr/>
        </p:nvSpPr>
        <p:spPr bwMode="auto">
          <a:xfrm>
            <a:off x="1097280" y="1554480"/>
            <a:ext cx="9994392" cy="1188720"/>
          </a:xfrm>
          <a:prstGeom prst="rect">
            <a:avLst/>
          </a:prstGeom>
          <a:noFill/>
          <a:ln/>
        </p:spPr>
        <p:txBody>
          <a:bodyPr wrap="square" lIns="0" tIns="0" rIns="0" bIns="0" rtlCol="0" anchor="ctr"/>
          <a:lstStyle/>
          <a:p>
            <a:pPr marL="0" indent="0" algn="ctr">
              <a:lnSpc>
                <a:spcPct val="125000"/>
              </a:lnSpc>
              <a:buNone/>
              <a:defRPr/>
            </a:pPr>
            <a:r>
              <a:rPr lang="en-US" sz="2400" i="1">
                <a:solidFill>
                  <a:srgbClr val="FFFFFF"/>
                </a:solidFill>
                <a:latin typeface="Cambria"/>
                <a:ea typeface="Cambria"/>
                <a:cs typeface="Cambria"/>
              </a:rPr>
              <a:t>KrishiBazar evolved from a broad, six-stakeholder concept into a substantial, working Farmer-focused prototype.</a:t>
            </a:r>
            <a:endParaRPr lang="en-US" sz="2400"/>
          </a:p>
        </p:txBody>
      </p:sp>
      <p:sp>
        <p:nvSpPr>
          <p:cNvPr id="2064067203" name="Shape 3"/>
          <p:cNvSpPr/>
          <p:nvPr/>
        </p:nvSpPr>
        <p:spPr bwMode="auto">
          <a:xfrm>
            <a:off x="5181905" y="2880360"/>
            <a:ext cx="1828800" cy="0"/>
          </a:xfrm>
          <a:prstGeom prst="line">
            <a:avLst/>
          </a:prstGeom>
          <a:noFill/>
          <a:ln w="12700">
            <a:solidFill>
              <a:srgbClr val="3E6B54"/>
            </a:solidFill>
            <a:prstDash val="solid"/>
          </a:ln>
        </p:spPr>
      </p:sp>
      <p:sp>
        <p:nvSpPr>
          <p:cNvPr id="964387679" name="Text 4"/>
          <p:cNvSpPr txBox="1"/>
          <p:nvPr/>
        </p:nvSpPr>
        <p:spPr bwMode="auto">
          <a:xfrm>
            <a:off x="1097280" y="3154680"/>
            <a:ext cx="9994392" cy="274320"/>
          </a:xfrm>
          <a:prstGeom prst="rect">
            <a:avLst/>
          </a:prstGeom>
          <a:noFill/>
          <a:ln/>
        </p:spPr>
        <p:txBody>
          <a:bodyPr wrap="square" lIns="0" tIns="0" rIns="0" bIns="0" rtlCol="0" anchor="ctr"/>
          <a:lstStyle/>
          <a:p>
            <a:pPr marL="0" indent="0" algn="ctr">
              <a:buNone/>
              <a:defRPr/>
            </a:pPr>
            <a:r>
              <a:rPr lang="en-US" sz="1200" b="1" spc="200">
                <a:solidFill>
                  <a:srgbClr val="B8792E"/>
                </a:solidFill>
                <a:latin typeface="Calibri"/>
                <a:ea typeface="Calibri"/>
                <a:cs typeface="Calibri"/>
              </a:rPr>
              <a:t>NEXT STEP</a:t>
            </a:r>
            <a:endParaRPr lang="en-US" sz="1200"/>
          </a:p>
        </p:txBody>
      </p:sp>
      <p:sp>
        <p:nvSpPr>
          <p:cNvPr id="1861289943" name="Text 5"/>
          <p:cNvSpPr txBox="1"/>
          <p:nvPr/>
        </p:nvSpPr>
        <p:spPr bwMode="auto">
          <a:xfrm>
            <a:off x="1097280" y="3456432"/>
            <a:ext cx="9994392" cy="457200"/>
          </a:xfrm>
          <a:prstGeom prst="rect">
            <a:avLst/>
          </a:prstGeom>
          <a:noFill/>
          <a:ln/>
        </p:spPr>
        <p:txBody>
          <a:bodyPr wrap="square" lIns="0" tIns="0" rIns="0" bIns="0" rtlCol="0" anchor="ctr"/>
          <a:lstStyle/>
          <a:p>
            <a:pPr marL="0" indent="0" algn="ctr">
              <a:buNone/>
              <a:defRPr/>
            </a:pPr>
            <a:r>
              <a:rPr lang="en-US" sz="1600">
                <a:solidFill>
                  <a:srgbClr val="D7E6DA"/>
                </a:solidFill>
                <a:latin typeface="Calibri"/>
                <a:ea typeface="Calibri"/>
                <a:cs typeface="Calibri"/>
              </a:rPr>
              <a:t>Connect the remaining ecosystem.</a:t>
            </a:r>
            <a:endParaRPr lang="en-US" sz="1600"/>
          </a:p>
        </p:txBody>
      </p:sp>
      <p:sp>
        <p:nvSpPr>
          <p:cNvPr id="22650577" name="Shape 6"/>
          <p:cNvSpPr/>
          <p:nvPr/>
        </p:nvSpPr>
        <p:spPr bwMode="auto">
          <a:xfrm>
            <a:off x="5364785" y="4343400"/>
            <a:ext cx="1280160" cy="1280160"/>
          </a:xfrm>
          <a:prstGeom prst="ellipse">
            <a:avLst/>
          </a:prstGeom>
          <a:solidFill>
            <a:srgbClr val="FFFFFF"/>
          </a:solidFill>
          <a:ln/>
        </p:spPr>
      </p:sp>
      <p:pic>
        <p:nvPicPr>
          <p:cNvPr id="937075315" name="Image 0" descr="/home/claude/work/krishibazar_deck_project/icons/message_forest.png"/>
          <p:cNvPicPr>
            <a:picLocks noChangeAspect="1"/>
          </p:cNvPicPr>
          <p:nvPr/>
        </p:nvPicPr>
        <p:blipFill rotWithShape="1">
          <a:blip r:embed="rId3"/>
          <a:stretch/>
        </p:blipFill>
        <p:spPr bwMode="auto">
          <a:xfrm>
            <a:off x="5531206" y="4509821"/>
            <a:ext cx="947318" cy="947318"/>
          </a:xfrm>
          <a:prstGeom prst="rect">
            <a:avLst/>
          </a:prstGeom>
        </p:spPr>
      </p:pic>
      <p:sp>
        <p:nvSpPr>
          <p:cNvPr id="2141251649" name="Text 7"/>
          <p:cNvSpPr txBox="1"/>
          <p:nvPr/>
        </p:nvSpPr>
        <p:spPr bwMode="auto">
          <a:xfrm>
            <a:off x="731520" y="5806440"/>
            <a:ext cx="10725912" cy="548640"/>
          </a:xfrm>
          <a:prstGeom prst="rect">
            <a:avLst/>
          </a:prstGeom>
          <a:noFill/>
          <a:ln/>
        </p:spPr>
        <p:txBody>
          <a:bodyPr wrap="square" lIns="0" tIns="0" rIns="0" bIns="0" rtlCol="0" anchor="ctr"/>
          <a:lstStyle/>
          <a:p>
            <a:pPr marL="0" indent="0" algn="ctr">
              <a:buNone/>
              <a:defRPr/>
            </a:pPr>
            <a:r>
              <a:rPr lang="en-US" sz="3200" b="1">
                <a:solidFill>
                  <a:srgbClr val="FFFFFF"/>
                </a:solidFill>
                <a:latin typeface="Cambria"/>
                <a:ea typeface="Cambria"/>
                <a:cs typeface="Cambria"/>
              </a:rPr>
              <a:t>Thank You</a:t>
            </a:r>
            <a:endParaRPr lang="en-US" sz="3200"/>
          </a:p>
        </p:txBody>
      </p:sp>
      <p:sp>
        <p:nvSpPr>
          <p:cNvPr id="1238985634" name="Text 8"/>
          <p:cNvSpPr txBox="1"/>
          <p:nvPr/>
        </p:nvSpPr>
        <p:spPr bwMode="auto">
          <a:xfrm>
            <a:off x="731520" y="6327648"/>
            <a:ext cx="10725912" cy="365760"/>
          </a:xfrm>
          <a:prstGeom prst="rect">
            <a:avLst/>
          </a:prstGeom>
          <a:noFill/>
          <a:ln/>
        </p:spPr>
        <p:txBody>
          <a:bodyPr wrap="square" lIns="0" tIns="0" rIns="0" bIns="0" rtlCol="0" anchor="ctr"/>
          <a:lstStyle/>
          <a:p>
            <a:pPr marL="0" indent="0" algn="ctr">
              <a:buNone/>
              <a:defRPr/>
            </a:pPr>
            <a:r>
              <a:rPr lang="en-US" sz="1400">
                <a:solidFill>
                  <a:srgbClr val="B8792E"/>
                </a:solidFill>
                <a:latin typeface="Calibri"/>
                <a:ea typeface="Calibri"/>
                <a:cs typeface="Calibri"/>
              </a:rPr>
              <a:t>Questions &amp; Discussion</a:t>
            </a:r>
            <a:endParaRPr lang="en-US" sz="1400"/>
          </a:p>
        </p:txBody>
      </p:sp>
      <p:sp>
        <p:nvSpPr>
          <p:cNvPr id="1305228830" name="Text 9"/>
          <p:cNvSpPr txBox="1"/>
          <p:nvPr/>
        </p:nvSpPr>
        <p:spPr bwMode="auto">
          <a:xfrm>
            <a:off x="548640" y="6528816"/>
            <a:ext cx="4572000" cy="237744"/>
          </a:xfrm>
          <a:prstGeom prst="rect">
            <a:avLst/>
          </a:prstGeom>
          <a:noFill/>
          <a:ln/>
        </p:spPr>
        <p:txBody>
          <a:bodyPr wrap="square" lIns="0" tIns="0" rIns="0" bIns="0" rtlCol="0" anchor="ctr"/>
          <a:lstStyle/>
          <a:p>
            <a:pPr marL="0" indent="0">
              <a:buNone/>
              <a:defRPr/>
            </a:pPr>
            <a:r>
              <a:rPr lang="en-US" sz="900">
                <a:solidFill>
                  <a:srgbClr val="5C6B62"/>
                </a:solidFill>
                <a:latin typeface="Calibri"/>
                <a:ea typeface="Calibri"/>
                <a:cs typeface="Calibri"/>
              </a:rPr>
              <a:t>KrishiBazar — Final Project Showcase</a:t>
            </a:r>
            <a:endParaRPr lang="en-US" sz="900"/>
          </a:p>
        </p:txBody>
      </p:sp>
      <p:sp>
        <p:nvSpPr>
          <p:cNvPr id="869747374" name="Text 10"/>
          <p:cNvSpPr txBox="1"/>
          <p:nvPr/>
        </p:nvSpPr>
        <p:spPr bwMode="auto">
          <a:xfrm>
            <a:off x="11338560" y="6528816"/>
            <a:ext cx="320040" cy="237744"/>
          </a:xfrm>
          <a:prstGeom prst="rect">
            <a:avLst/>
          </a:prstGeom>
          <a:noFill/>
          <a:ln/>
        </p:spPr>
        <p:txBody>
          <a:bodyPr wrap="square" lIns="0" tIns="0" rIns="0" bIns="0" rtlCol="0" anchor="ctr"/>
          <a:lstStyle/>
          <a:p>
            <a:pPr marL="0" indent="0" algn="r">
              <a:buNone/>
              <a:defRPr/>
            </a:pPr>
            <a:r>
              <a:rPr lang="en-US" sz="900">
                <a:solidFill>
                  <a:srgbClr val="5C6B62"/>
                </a:solidFill>
                <a:latin typeface="Calibri"/>
                <a:ea typeface="Calibri"/>
                <a:cs typeface="Calibri"/>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KrishiBazar — Final Project Showcase</dc:title>
  <dc:subject>PptxGenJS Presentation</dc:subject>
  <dc:creator>KrishiBazar Team</dc:creator>
  <cp:lastModifiedBy/>
  <cp:revision>3</cp:revision>
  <dcterms:created xsi:type="dcterms:W3CDTF">2026-09-27T17:35:14Z</dcterms:created>
  <dcterms:modified xsi:type="dcterms:W3CDTF">2026-09-28T13:08:24Z</dcterms:modified>
</cp:coreProperties>
</file>